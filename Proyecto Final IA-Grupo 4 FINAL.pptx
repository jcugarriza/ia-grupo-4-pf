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Average" pitchFamily="2" charset="0"/>
      <p:regular r:id="rId34"/>
    </p:embeddedFont>
    <p:embeddedFont>
      <p:font typeface="Oswald" pitchFamily="2"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font" Target="fonts/font1.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notesMaster" Target="notesMasters/notesMaster1.xml" /><Relationship Id="rId38"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presProps" Target="presProps.xml" /><Relationship Id="rId40"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font" Target="fonts/font3.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font" Target="fonts/font2.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80f91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80f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6f980f91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6f980f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c6f980f91_0_1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c6f980f9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c6f980f91_0_2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c6f980f9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80f91_0_3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ac9109a11c_1_6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c9109a11c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c6f980f91_0_4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c6f980f91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ac9109a11c_1_10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ac9109a11c_1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ac9109a11c_1_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ac9109a11c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ac9109a11c_1_3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ac9109a11c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ac9109a11c_1_14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ac9109a11c_1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c9109a11c_1_13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c9109a11c_1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ac9109a11c_1_16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c9109a11c_1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c9109a11c_1_17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c9109a11c_1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c9109a11c_1_14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ac9109a11c_1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ac9109a11c_1_15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ac9109a11c_1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ac9109a11c_1_19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ac9109a11c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ac9109a11c_1_15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ac9109a11c_1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c9109a11c_1_19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ac9109a11c_1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ac9109a11c_1_21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ac9109a11c_1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ac9109a11c_1_2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ac9109a11c_1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c9109a11c_1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ac9109a11c_1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ac9109a11c_1_23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ac9109a11c_1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ac9109a11c_1_25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ac9109a11c_1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ac9109a11c_1_24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ac9109a11c_1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ac9109a11c_1_25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ac9109a11c_1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c9109a11c_1_26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ac9109a11c_1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ac9109a11c_1_27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ac9109a11c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ac9109a11c_1_27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ac9109a11c_1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ac9109a11c_1_28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ac9109a11c_1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c9109a11c_1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ac9109a11c_1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5.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11.xml" /></Relationships>
</file>

<file path=ppt/slides/_rels/slide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7.xml" /><Relationship Id="rId1" Type="http://schemas.openxmlformats.org/officeDocument/2006/relationships/slideLayout" Target="../slideLayouts/slideLayout11.xml" /><Relationship Id="rId4" Type="http://schemas.openxmlformats.org/officeDocument/2006/relationships/image" Target="../media/image4.png"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1.xml" /></Relationships>
</file>

<file path=ppt/slides/_rels/slide10.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0.xml" /><Relationship Id="rId1" Type="http://schemas.openxmlformats.org/officeDocument/2006/relationships/slideLayout" Target="../slideLayouts/slideLayout11.xml" /><Relationship Id="rId4" Type="http://schemas.openxmlformats.org/officeDocument/2006/relationships/image" Target="../media/image6.png"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2.xml" /><Relationship Id="rId1" Type="http://schemas.openxmlformats.org/officeDocument/2006/relationships/slideLayout" Target="../slideLayouts/slideLayout11.xml" /></Relationships>
</file>

<file path=ppt/slides/_rels/slide13.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3.xml" /><Relationship Id="rId1" Type="http://schemas.openxmlformats.org/officeDocument/2006/relationships/slideLayout" Target="../slideLayouts/slideLayout11.xml" /><Relationship Id="rId6" Type="http://schemas.openxmlformats.org/officeDocument/2006/relationships/image" Target="../media/image11.png" /><Relationship Id="rId5" Type="http://schemas.openxmlformats.org/officeDocument/2006/relationships/image" Target="../media/image10.png" /><Relationship Id="rId4" Type="http://schemas.openxmlformats.org/officeDocument/2006/relationships/image" Target="../media/image9.png" /></Relationships>
</file>

<file path=ppt/slides/_rels/slide14.xml.rels><?xml version="1.0" encoding="UTF-8" standalone="yes"?>
<Relationships xmlns="http://schemas.openxmlformats.org/package/2006/relationships"><Relationship Id="rId8" Type="http://schemas.openxmlformats.org/officeDocument/2006/relationships/image" Target="../media/image13.png" /><Relationship Id="rId3" Type="http://schemas.openxmlformats.org/officeDocument/2006/relationships/image" Target="../media/image8.png" /><Relationship Id="rId7" Type="http://schemas.openxmlformats.org/officeDocument/2006/relationships/image" Target="../media/image12.png" /><Relationship Id="rId2" Type="http://schemas.openxmlformats.org/officeDocument/2006/relationships/notesSlide" Target="../notesSlides/notesSlide14.xml" /><Relationship Id="rId1" Type="http://schemas.openxmlformats.org/officeDocument/2006/relationships/slideLayout" Target="../slideLayouts/slideLayout11.xml" /><Relationship Id="rId6" Type="http://schemas.openxmlformats.org/officeDocument/2006/relationships/image" Target="../media/image11.png" /><Relationship Id="rId5" Type="http://schemas.openxmlformats.org/officeDocument/2006/relationships/image" Target="../media/image10.png" /><Relationship Id="rId4" Type="http://schemas.openxmlformats.org/officeDocument/2006/relationships/image" Target="../media/image9.png" /></Relationships>
</file>

<file path=ppt/slides/_rels/slide1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5.xml" /><Relationship Id="rId1" Type="http://schemas.openxmlformats.org/officeDocument/2006/relationships/slideLayout" Target="../slideLayouts/slideLayout11.xml" /><Relationship Id="rId5" Type="http://schemas.openxmlformats.org/officeDocument/2006/relationships/image" Target="../media/image14.png" /><Relationship Id="rId4" Type="http://schemas.openxmlformats.org/officeDocument/2006/relationships/image" Target="../media/image6.png" /></Relationships>
</file>

<file path=ppt/slides/_rels/slide1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6.xml" /><Relationship Id="rId1" Type="http://schemas.openxmlformats.org/officeDocument/2006/relationships/slideLayout" Target="../slideLayouts/slideLayout11.xml" /><Relationship Id="rId5" Type="http://schemas.openxmlformats.org/officeDocument/2006/relationships/image" Target="../media/image16.png" /><Relationship Id="rId4" Type="http://schemas.openxmlformats.org/officeDocument/2006/relationships/image" Target="../media/image15.png"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8.xml" /><Relationship Id="rId1" Type="http://schemas.openxmlformats.org/officeDocument/2006/relationships/slideLayout" Target="../slideLayouts/slideLayout11.xml" /><Relationship Id="rId4" Type="http://schemas.openxmlformats.org/officeDocument/2006/relationships/image" Target="../media/image17.png" /></Relationships>
</file>

<file path=ppt/slides/_rels/slide19.xml.rels><?xml version="1.0" encoding="UTF-8" standalone="yes"?>
<Relationships xmlns="http://schemas.openxmlformats.org/package/2006/relationships"><Relationship Id="rId8" Type="http://schemas.openxmlformats.org/officeDocument/2006/relationships/image" Target="../media/image13.png" /><Relationship Id="rId3" Type="http://schemas.openxmlformats.org/officeDocument/2006/relationships/image" Target="../media/image8.png" /><Relationship Id="rId7" Type="http://schemas.openxmlformats.org/officeDocument/2006/relationships/image" Target="../media/image12.png" /><Relationship Id="rId2" Type="http://schemas.openxmlformats.org/officeDocument/2006/relationships/notesSlide" Target="../notesSlides/notesSlide19.xml" /><Relationship Id="rId1" Type="http://schemas.openxmlformats.org/officeDocument/2006/relationships/slideLayout" Target="../slideLayouts/slideLayout11.xml" /><Relationship Id="rId6" Type="http://schemas.openxmlformats.org/officeDocument/2006/relationships/image" Target="../media/image11.png" /><Relationship Id="rId5" Type="http://schemas.openxmlformats.org/officeDocument/2006/relationships/image" Target="../media/image10.png" /><Relationship Id="rId10" Type="http://schemas.openxmlformats.org/officeDocument/2006/relationships/image" Target="../media/image19.png" /><Relationship Id="rId4" Type="http://schemas.openxmlformats.org/officeDocument/2006/relationships/image" Target="../media/image9.png" /><Relationship Id="rId9" Type="http://schemas.openxmlformats.org/officeDocument/2006/relationships/image" Target="../media/image18.png" /></Relationships>
</file>

<file path=ppt/slides/_rels/slide20.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20.xml" /><Relationship Id="rId1" Type="http://schemas.openxmlformats.org/officeDocument/2006/relationships/slideLayout" Target="../slideLayouts/slideLayout11.xml" /><Relationship Id="rId4" Type="http://schemas.openxmlformats.org/officeDocument/2006/relationships/image" Target="../media/image21.png"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1.xml" /></Relationships>
</file>

<file path=ppt/slides/_rels/slide22.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22.xml" /><Relationship Id="rId1" Type="http://schemas.openxmlformats.org/officeDocument/2006/relationships/slideLayout" Target="../slideLayouts/slideLayout11.xml" /></Relationships>
</file>

<file path=ppt/slides/_rels/slide23.xml.rels><?xml version="1.0" encoding="UTF-8" standalone="yes"?>
<Relationships xmlns="http://schemas.openxmlformats.org/package/2006/relationships"><Relationship Id="rId3" Type="http://schemas.openxmlformats.org/officeDocument/2006/relationships/image" Target="../media/image5.png" /><Relationship Id="rId7" Type="http://schemas.openxmlformats.org/officeDocument/2006/relationships/image" Target="../media/image24.png" /><Relationship Id="rId2" Type="http://schemas.openxmlformats.org/officeDocument/2006/relationships/notesSlide" Target="../notesSlides/notesSlide23.xml" /><Relationship Id="rId1" Type="http://schemas.openxmlformats.org/officeDocument/2006/relationships/slideLayout" Target="../slideLayouts/slideLayout11.xml" /><Relationship Id="rId6" Type="http://schemas.openxmlformats.org/officeDocument/2006/relationships/image" Target="../media/image23.png" /><Relationship Id="rId5" Type="http://schemas.openxmlformats.org/officeDocument/2006/relationships/image" Target="../media/image14.png" /><Relationship Id="rId4" Type="http://schemas.openxmlformats.org/officeDocument/2006/relationships/image" Target="../media/image6.png"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1.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1.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11.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11.xml" /></Relationships>
</file>

<file path=ppt/slides/_rels/slide29.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29.xml" /><Relationship Id="rId1" Type="http://schemas.openxmlformats.org/officeDocument/2006/relationships/slideLayout" Target="../slideLayouts/slideLayout11.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11.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671258" y="177637"/>
            <a:ext cx="7801500" cy="173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Proyecto Final IA-Grupo 4</a:t>
            </a:r>
            <a:endParaRPr/>
          </a:p>
        </p:txBody>
      </p:sp>
      <p:sp>
        <p:nvSpPr>
          <p:cNvPr id="60" name="Google Shape;60;p13"/>
          <p:cNvSpPr txBox="1">
            <a:spLocks noGrp="1"/>
          </p:cNvSpPr>
          <p:nvPr>
            <p:ph type="subTitle" idx="1"/>
          </p:nvPr>
        </p:nvSpPr>
        <p:spPr>
          <a:xfrm>
            <a:off x="671250" y="2192850"/>
            <a:ext cx="7801500" cy="7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Integrantes:</a:t>
            </a:r>
            <a:br>
              <a:rPr lang="es"/>
            </a:br>
            <a:r>
              <a:rPr lang="es"/>
              <a:t>	</a:t>
            </a:r>
            <a:br>
              <a:rPr lang="es"/>
            </a:br>
            <a:br>
              <a:rPr lang="es"/>
            </a:br>
            <a:r>
              <a:rPr lang="es"/>
              <a:t>			</a:t>
            </a:r>
            <a:br>
              <a:rPr lang="es"/>
            </a:br>
            <a:endParaRPr/>
          </a:p>
        </p:txBody>
      </p:sp>
      <p:sp>
        <p:nvSpPr>
          <p:cNvPr id="61" name="Google Shape;61;p13"/>
          <p:cNvSpPr txBox="1"/>
          <p:nvPr/>
        </p:nvSpPr>
        <p:spPr>
          <a:xfrm>
            <a:off x="1804650" y="2950650"/>
            <a:ext cx="4271700" cy="1214700"/>
          </a:xfrm>
          <a:prstGeom prst="rect">
            <a:avLst/>
          </a:prstGeom>
          <a:noFill/>
          <a:ln>
            <a:noFill/>
          </a:ln>
        </p:spPr>
        <p:txBody>
          <a:bodyPr spcFirstLastPara="1" wrap="square" lIns="91425" tIns="91425" rIns="91425" bIns="91425" anchor="t" anchorCtr="0">
            <a:noAutofit/>
          </a:bodyPr>
          <a:lstStyle/>
          <a:p>
            <a:pPr marL="457200" lvl="0" indent="-361950" algn="l" rtl="0">
              <a:spcBef>
                <a:spcPts val="0"/>
              </a:spcBef>
              <a:spcAft>
                <a:spcPts val="0"/>
              </a:spcAft>
              <a:buClr>
                <a:schemeClr val="accent3"/>
              </a:buClr>
              <a:buSzPts val="2100"/>
              <a:buFont typeface="Average"/>
              <a:buChar char="●"/>
            </a:pPr>
            <a:r>
              <a:rPr lang="es" sz="2100">
                <a:solidFill>
                  <a:schemeClr val="accent3"/>
                </a:solidFill>
                <a:latin typeface="Average"/>
                <a:ea typeface="Average"/>
                <a:cs typeface="Average"/>
                <a:sym typeface="Average"/>
              </a:rPr>
              <a:t>Juan Ugarriza</a:t>
            </a:r>
            <a:endParaRPr sz="2100">
              <a:solidFill>
                <a:schemeClr val="accent3"/>
              </a:solidFill>
              <a:latin typeface="Average"/>
              <a:ea typeface="Average"/>
              <a:cs typeface="Average"/>
              <a:sym typeface="Average"/>
            </a:endParaRPr>
          </a:p>
          <a:p>
            <a:pPr marL="457200" lvl="0" indent="-361950" algn="l" rtl="0">
              <a:spcBef>
                <a:spcPts val="0"/>
              </a:spcBef>
              <a:spcAft>
                <a:spcPts val="0"/>
              </a:spcAft>
              <a:buClr>
                <a:schemeClr val="accent3"/>
              </a:buClr>
              <a:buSzPts val="2100"/>
              <a:buFont typeface="Average"/>
              <a:buChar char="●"/>
            </a:pPr>
            <a:r>
              <a:rPr lang="es" sz="2100">
                <a:solidFill>
                  <a:schemeClr val="accent3"/>
                </a:solidFill>
                <a:latin typeface="Average"/>
                <a:ea typeface="Average"/>
                <a:cs typeface="Average"/>
                <a:sym typeface="Average"/>
              </a:rPr>
              <a:t>Jonathan Castellano</a:t>
            </a:r>
            <a:endParaRPr sz="2100">
              <a:solidFill>
                <a:schemeClr val="accent3"/>
              </a:solidFill>
              <a:latin typeface="Average"/>
              <a:ea typeface="Average"/>
              <a:cs typeface="Average"/>
              <a:sym typeface="Average"/>
            </a:endParaRPr>
          </a:p>
          <a:p>
            <a:pPr marL="457200" lvl="0" indent="-361950" algn="l" rtl="0">
              <a:spcBef>
                <a:spcPts val="0"/>
              </a:spcBef>
              <a:spcAft>
                <a:spcPts val="0"/>
              </a:spcAft>
              <a:buClr>
                <a:schemeClr val="accent3"/>
              </a:buClr>
              <a:buSzPts val="2100"/>
              <a:buFont typeface="Average"/>
              <a:buChar char="●"/>
            </a:pPr>
            <a:r>
              <a:rPr lang="es" sz="2100">
                <a:solidFill>
                  <a:schemeClr val="accent3"/>
                </a:solidFill>
                <a:latin typeface="Average"/>
                <a:ea typeface="Average"/>
                <a:cs typeface="Average"/>
                <a:sym typeface="Average"/>
              </a:rPr>
              <a:t>Jesus Villarreal</a:t>
            </a:r>
            <a:endParaRPr sz="1800">
              <a:solidFill>
                <a:schemeClr val="accent3"/>
              </a:solidFill>
              <a:latin typeface="Average"/>
              <a:ea typeface="Average"/>
              <a:cs typeface="Average"/>
              <a:sym typeface="Average"/>
            </a:endParaRPr>
          </a:p>
        </p:txBody>
      </p:sp>
      <p:sp>
        <p:nvSpPr>
          <p:cNvPr id="62" name="Google Shape;62;p13"/>
          <p:cNvSpPr txBox="1"/>
          <p:nvPr/>
        </p:nvSpPr>
        <p:spPr>
          <a:xfrm>
            <a:off x="1466250" y="4334250"/>
            <a:ext cx="6211500" cy="48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a:solidFill>
                  <a:schemeClr val="accent3"/>
                </a:solidFill>
                <a:latin typeface="Average"/>
                <a:ea typeface="Average"/>
                <a:cs typeface="Average"/>
                <a:sym typeface="Average"/>
              </a:rPr>
              <a:t>2 De diciembre de 2025</a:t>
            </a:r>
            <a:endParaRPr sz="1800">
              <a:solidFill>
                <a:schemeClr val="accent3"/>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Descripción del dataset</a:t>
            </a:r>
            <a:endParaRPr/>
          </a:p>
        </p:txBody>
      </p:sp>
      <p:sp>
        <p:nvSpPr>
          <p:cNvPr id="68" name="Google Shape;68;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Este dataset contiene información de campañas de marketing directo realizadas por teléfono por un banco en Portugal. El objetivo es predecir si un cliente aceptará suscribir un depósito a plazo, representado por la variable objetivo (Donde sus valores se tomarán de manera binaria (Value: “yes” / “no”)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Variables Principales</a:t>
            </a:r>
            <a:endParaRPr/>
          </a:p>
        </p:txBody>
      </p:sp>
      <p:sp>
        <p:nvSpPr>
          <p:cNvPr id="74" name="Google Shape;74;p15"/>
          <p:cNvSpPr txBox="1"/>
          <p:nvPr/>
        </p:nvSpPr>
        <p:spPr>
          <a:xfrm>
            <a:off x="374250" y="1169775"/>
            <a:ext cx="7759500" cy="3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accent3"/>
              </a:solidFill>
              <a:latin typeface="Average"/>
              <a:ea typeface="Average"/>
              <a:cs typeface="Average"/>
              <a:sym typeface="Average"/>
            </a:endParaRPr>
          </a:p>
        </p:txBody>
      </p:sp>
      <p:pic>
        <p:nvPicPr>
          <p:cNvPr id="75" name="Google Shape;75;p15"/>
          <p:cNvPicPr preferRelativeResize="0"/>
          <p:nvPr/>
        </p:nvPicPr>
        <p:blipFill>
          <a:blip r:embed="rId3">
            <a:alphaModFix/>
          </a:blip>
          <a:stretch>
            <a:fillRect/>
          </a:stretch>
        </p:blipFill>
        <p:spPr>
          <a:xfrm>
            <a:off x="452653" y="1130586"/>
            <a:ext cx="5439100" cy="3918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sz="4000" b="1"/>
              <a:t>Hipótesis de predicción:</a:t>
            </a:r>
            <a:endParaRPr sz="4000" b="1"/>
          </a:p>
          <a:p>
            <a:pPr marL="0" lvl="0" indent="0" algn="l" rtl="0">
              <a:spcBef>
                <a:spcPts val="0"/>
              </a:spcBef>
              <a:spcAft>
                <a:spcPts val="0"/>
              </a:spcAft>
              <a:buNone/>
            </a:pPr>
            <a:r>
              <a:rPr lang="es" sz="2100" b="1"/>
              <a:t>Nuestro objetivo es predecir si un cliente aceptará suscribir un depósito a largo plazo después de ser contactado por la campaña telefónica del banco. Esto es importante porque permite a el/los banco(s) identificar qué clientes tienen una mayor probabilidad de aceptar la oferta, optimizando así sus recursos de marketing, reduciendo costos operativos y aumentando la efectividad de las campañas.</a:t>
            </a:r>
            <a:endParaRPr sz="21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4500"/>
              <a:t>EDA</a:t>
            </a:r>
            <a:endParaRPr sz="4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idx="4294967295"/>
          </p:nvPr>
        </p:nvSpPr>
        <p:spPr>
          <a:xfrm>
            <a:off x="311700" y="445025"/>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Distribución</a:t>
            </a:r>
            <a:endParaRPr/>
          </a:p>
        </p:txBody>
      </p:sp>
      <p:sp>
        <p:nvSpPr>
          <p:cNvPr id="91" name="Google Shape;91;p18"/>
          <p:cNvSpPr txBox="1">
            <a:spLocks noGrp="1"/>
          </p:cNvSpPr>
          <p:nvPr>
            <p:ph type="body" idx="4294967295"/>
          </p:nvPr>
        </p:nvSpPr>
        <p:spPr>
          <a:xfrm>
            <a:off x="3117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100" b="1">
                <a:solidFill>
                  <a:schemeClr val="dk1"/>
                </a:solidFill>
              </a:rPr>
              <a:t>Análisis</a:t>
            </a:r>
            <a:endParaRPr sz="2100" b="1">
              <a:solidFill>
                <a:schemeClr val="dk1"/>
              </a:solidFill>
            </a:endParaRPr>
          </a:p>
          <a:p>
            <a:pPr marL="457200" lvl="0" indent="-330200" algn="l" rtl="0">
              <a:spcBef>
                <a:spcPts val="1600"/>
              </a:spcBef>
              <a:spcAft>
                <a:spcPts val="0"/>
              </a:spcAft>
              <a:buSzPts val="1600"/>
              <a:buChar char="●"/>
            </a:pPr>
            <a:r>
              <a:rPr lang="es" sz="1600"/>
              <a:t>se puede interpretar que el dataset está desbalanceado, debido que la mayoría de las respuesta (en "y") son "no", aún así la cantidad de datos donde la respuesta es “si” es suficiente para entrenar un modelo predictivo. Este desbalance se consideró normal ya que la respuesta en estos casos suele ser negativa.</a:t>
            </a:r>
            <a:endParaRPr sz="1600"/>
          </a:p>
        </p:txBody>
      </p:sp>
      <p:pic>
        <p:nvPicPr>
          <p:cNvPr id="92" name="Google Shape;92;p18"/>
          <p:cNvPicPr preferRelativeResize="0"/>
          <p:nvPr/>
        </p:nvPicPr>
        <p:blipFill>
          <a:blip r:embed="rId3">
            <a:alphaModFix/>
          </a:blip>
          <a:stretch>
            <a:fillRect/>
          </a:stretch>
        </p:blipFill>
        <p:spPr>
          <a:xfrm>
            <a:off x="4464000" y="1170125"/>
            <a:ext cx="4527600" cy="34975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19"/>
          <p:cNvPicPr preferRelativeResize="0"/>
          <p:nvPr/>
        </p:nvPicPr>
        <p:blipFill>
          <a:blip r:embed="rId3">
            <a:alphaModFix/>
          </a:blip>
          <a:stretch>
            <a:fillRect/>
          </a:stretch>
        </p:blipFill>
        <p:spPr>
          <a:xfrm>
            <a:off x="78377" y="338556"/>
            <a:ext cx="4342100" cy="3605800"/>
          </a:xfrm>
          <a:prstGeom prst="rect">
            <a:avLst/>
          </a:prstGeom>
          <a:noFill/>
          <a:ln>
            <a:noFill/>
          </a:ln>
        </p:spPr>
      </p:pic>
      <p:pic>
        <p:nvPicPr>
          <p:cNvPr id="98" name="Google Shape;98;p19"/>
          <p:cNvPicPr preferRelativeResize="0"/>
          <p:nvPr/>
        </p:nvPicPr>
        <p:blipFill>
          <a:blip r:embed="rId4">
            <a:alphaModFix/>
          </a:blip>
          <a:stretch>
            <a:fillRect/>
          </a:stretch>
        </p:blipFill>
        <p:spPr>
          <a:xfrm>
            <a:off x="4645799" y="338556"/>
            <a:ext cx="4390424" cy="3564626"/>
          </a:xfrm>
          <a:prstGeom prst="rect">
            <a:avLst/>
          </a:prstGeom>
          <a:noFill/>
          <a:ln>
            <a:noFill/>
          </a:ln>
        </p:spPr>
      </p:pic>
      <p:sp>
        <p:nvSpPr>
          <p:cNvPr id="99" name="Google Shape;99;p19"/>
          <p:cNvSpPr txBox="1"/>
          <p:nvPr/>
        </p:nvSpPr>
        <p:spPr>
          <a:xfrm>
            <a:off x="188100" y="4177500"/>
            <a:ext cx="4849500" cy="82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accent3"/>
                </a:solidFill>
                <a:latin typeface="Average"/>
                <a:ea typeface="Average"/>
                <a:cs typeface="Average"/>
                <a:sym typeface="Average"/>
              </a:rPr>
              <a:t>podemos apreciar que en este punto las relaciones de las variables numericas lucen algo débiles</a:t>
            </a:r>
            <a:endParaRPr sz="1800">
              <a:solidFill>
                <a:schemeClr val="accent3"/>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4500"/>
              <a:t>PREPROCESAMIENTO</a:t>
            </a:r>
            <a:endParaRPr sz="4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idx="4294967295"/>
          </p:nvPr>
        </p:nvSpPr>
        <p:spPr>
          <a:xfrm>
            <a:off x="311700" y="445025"/>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Análisis</a:t>
            </a:r>
            <a:endParaRPr/>
          </a:p>
        </p:txBody>
      </p:sp>
      <p:sp>
        <p:nvSpPr>
          <p:cNvPr id="110" name="Google Shape;110;p21"/>
          <p:cNvSpPr txBox="1">
            <a:spLocks noGrp="1"/>
          </p:cNvSpPr>
          <p:nvPr>
            <p:ph type="body" idx="4294967295"/>
          </p:nvPr>
        </p:nvSpPr>
        <p:spPr>
          <a:xfrm>
            <a:off x="311700" y="1152475"/>
            <a:ext cx="8272500" cy="375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Para el preprocesamiento de datos se siguieron los siguientes pasos:</a:t>
            </a:r>
            <a:endParaRPr sz="1600"/>
          </a:p>
          <a:p>
            <a:pPr marL="457200" lvl="0" indent="-330200" algn="l" rtl="0">
              <a:spcBef>
                <a:spcPts val="1600"/>
              </a:spcBef>
              <a:spcAft>
                <a:spcPts val="0"/>
              </a:spcAft>
              <a:buSzPts val="1600"/>
              <a:buChar char="●"/>
            </a:pPr>
            <a:r>
              <a:rPr lang="es" sz="1600"/>
              <a:t>Reemplazar 'unknown' por 'No_Registrado' en columnas categóricas</a:t>
            </a:r>
            <a:endParaRPr sz="1600"/>
          </a:p>
          <a:p>
            <a:pPr marL="457200" lvl="0" indent="-330200" algn="l" rtl="0">
              <a:spcBef>
                <a:spcPts val="0"/>
              </a:spcBef>
              <a:spcAft>
                <a:spcPts val="0"/>
              </a:spcAft>
              <a:buSzPts val="1600"/>
              <a:buChar char="●"/>
            </a:pPr>
            <a:r>
              <a:rPr lang="es" sz="1600"/>
              <a:t>Eliminar 'duration' (no debe usarse porque es conocido solo después de la llamada. Esto es recomendado por la fuente para entrenar modelos)</a:t>
            </a:r>
            <a:endParaRPr sz="1600"/>
          </a:p>
          <a:p>
            <a:pPr marL="457200" lvl="0" indent="-330200" algn="l" rtl="0">
              <a:spcBef>
                <a:spcPts val="0"/>
              </a:spcBef>
              <a:spcAft>
                <a:spcPts val="0"/>
              </a:spcAft>
              <a:buSzPts val="1600"/>
              <a:buChar char="●"/>
            </a:pPr>
            <a:r>
              <a:rPr lang="es" sz="1600"/>
              <a:t>Separar variable objetivo 'y' y convertir a 0/1</a:t>
            </a:r>
            <a:endParaRPr sz="1600"/>
          </a:p>
          <a:p>
            <a:pPr marL="457200" lvl="0" indent="-330200" algn="l" rtl="0">
              <a:spcBef>
                <a:spcPts val="0"/>
              </a:spcBef>
              <a:spcAft>
                <a:spcPts val="0"/>
              </a:spcAft>
              <a:buSzPts val="1600"/>
              <a:buChar char="●"/>
            </a:pPr>
            <a:r>
              <a:rPr lang="es" sz="1600"/>
              <a:t>Dividir el dataset siguiendo la regla 70/30 en conjunto de entrenamiento(70) y prueba(30), Separar train/test ANTES del PCA utilizando estratificación para preservar la proporción de clases en la variable objetivo</a:t>
            </a:r>
            <a:endParaRPr sz="1600"/>
          </a:p>
          <a:p>
            <a:pPr marL="457200" lvl="0" indent="-330200" algn="l" rtl="0">
              <a:spcBef>
                <a:spcPts val="0"/>
              </a:spcBef>
              <a:spcAft>
                <a:spcPts val="0"/>
              </a:spcAft>
              <a:buSzPts val="1600"/>
              <a:buChar char="●"/>
            </a:pPr>
            <a:r>
              <a:rPr lang="es" sz="1600"/>
              <a:t>One-hot encoding sobre las variables categóricas</a:t>
            </a:r>
            <a:endParaRPr sz="1600"/>
          </a:p>
          <a:p>
            <a:pPr marL="457200" lvl="0" indent="-330200" algn="l" rtl="0">
              <a:spcBef>
                <a:spcPts val="0"/>
              </a:spcBef>
              <a:spcAft>
                <a:spcPts val="0"/>
              </a:spcAft>
              <a:buSzPts val="1600"/>
              <a:buChar char="●"/>
            </a:pPr>
            <a:r>
              <a:rPr lang="es" sz="1600"/>
              <a:t>Alinear columnas de train y test (por si faltan categorías en test)</a:t>
            </a:r>
            <a:endParaRPr sz="1600"/>
          </a:p>
          <a:p>
            <a:pPr marL="457200" lvl="0" indent="-330200" algn="l" rtl="0">
              <a:spcBef>
                <a:spcPts val="0"/>
              </a:spcBef>
              <a:spcAft>
                <a:spcPts val="0"/>
              </a:spcAft>
              <a:buSzPts val="1600"/>
              <a:buChar char="●"/>
            </a:pPr>
            <a:r>
              <a:rPr lang="es" sz="1600"/>
              <a:t>Estandarizar</a:t>
            </a:r>
            <a:endParaRPr sz="1600"/>
          </a:p>
          <a:p>
            <a:pPr marL="457200" lvl="0" indent="-330200" algn="l" rtl="0">
              <a:spcBef>
                <a:spcPts val="0"/>
              </a:spcBef>
              <a:spcAft>
                <a:spcPts val="0"/>
              </a:spcAft>
              <a:buSzPts val="1600"/>
              <a:buChar char="●"/>
            </a:pPr>
            <a:r>
              <a:rPr lang="es" sz="1600"/>
              <a:t>Aplicar PCA: se entrena SOLO con X_train</a:t>
            </a:r>
            <a:br>
              <a:rPr lang="es" sz="1600"/>
            </a:b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idx="4294967295"/>
          </p:nvPr>
        </p:nvSpPr>
        <p:spPr>
          <a:xfrm>
            <a:off x="311700" y="121719"/>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Gráfica: Varianza explicada por componente</a:t>
            </a:r>
            <a:endParaRPr/>
          </a:p>
        </p:txBody>
      </p:sp>
      <p:sp>
        <p:nvSpPr>
          <p:cNvPr id="116" name="Google Shape;116;p22"/>
          <p:cNvSpPr txBox="1">
            <a:spLocks noGrp="1"/>
          </p:cNvSpPr>
          <p:nvPr>
            <p:ph type="body" idx="4294967295"/>
          </p:nvPr>
        </p:nvSpPr>
        <p:spPr>
          <a:xfrm>
            <a:off x="311700" y="897750"/>
            <a:ext cx="3999900" cy="378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100" b="1">
                <a:solidFill>
                  <a:schemeClr val="dk1"/>
                </a:solidFill>
              </a:rPr>
              <a:t>Resultados</a:t>
            </a:r>
            <a:endParaRPr sz="2100" b="1">
              <a:solidFill>
                <a:schemeClr val="dk1"/>
              </a:solidFill>
            </a:endParaRPr>
          </a:p>
          <a:p>
            <a:pPr marL="457200" lvl="0" indent="-330200" algn="l" rtl="0">
              <a:spcBef>
                <a:spcPts val="1600"/>
              </a:spcBef>
              <a:spcAft>
                <a:spcPts val="0"/>
              </a:spcAft>
              <a:buSzPts val="1600"/>
              <a:buChar char="●"/>
            </a:pPr>
            <a:r>
              <a:rPr lang="es" sz="1600"/>
              <a:t>Después de aplicar PCA manteniendo el 95% de varianza, el número de componentes principales se redujo significativamente en comparación con las más de 50 características generadas tras el one-hot encoding. Esto confirma que existe alta redundancia en el espacio original de atributos y que PCA permite una representación más compacta sin pérdida considerable de información.</a:t>
            </a:r>
            <a:endParaRPr sz="1600"/>
          </a:p>
        </p:txBody>
      </p:sp>
      <p:pic>
        <p:nvPicPr>
          <p:cNvPr id="117" name="Google Shape;117;p22"/>
          <p:cNvPicPr preferRelativeResize="0"/>
          <p:nvPr/>
        </p:nvPicPr>
        <p:blipFill>
          <a:blip r:embed="rId3">
            <a:alphaModFix/>
          </a:blip>
          <a:stretch>
            <a:fillRect/>
          </a:stretch>
        </p:blipFill>
        <p:spPr>
          <a:xfrm>
            <a:off x="5600425" y="694413"/>
            <a:ext cx="3319924" cy="2127858"/>
          </a:xfrm>
          <a:prstGeom prst="rect">
            <a:avLst/>
          </a:prstGeom>
          <a:noFill/>
          <a:ln>
            <a:noFill/>
          </a:ln>
        </p:spPr>
      </p:pic>
      <p:pic>
        <p:nvPicPr>
          <p:cNvPr id="118" name="Google Shape;118;p22"/>
          <p:cNvPicPr preferRelativeResize="0"/>
          <p:nvPr/>
        </p:nvPicPr>
        <p:blipFill rotWithShape="1">
          <a:blip r:embed="rId4">
            <a:alphaModFix/>
          </a:blip>
          <a:srcRect/>
          <a:stretch/>
        </p:blipFill>
        <p:spPr>
          <a:xfrm>
            <a:off x="5600424" y="2954775"/>
            <a:ext cx="3319925" cy="206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4500"/>
              <a:t>Aprendizaje no supervisado</a:t>
            </a:r>
            <a:endParaRPr sz="4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idx="4294967295"/>
          </p:nvPr>
        </p:nvSpPr>
        <p:spPr>
          <a:xfrm>
            <a:off x="311700" y="445025"/>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Clustering con K-Means</a:t>
            </a:r>
            <a:endParaRPr/>
          </a:p>
        </p:txBody>
      </p:sp>
      <p:sp>
        <p:nvSpPr>
          <p:cNvPr id="129" name="Google Shape;129;p24"/>
          <p:cNvSpPr txBox="1">
            <a:spLocks noGrp="1"/>
          </p:cNvSpPr>
          <p:nvPr>
            <p:ph type="body" idx="4294967295"/>
          </p:nvPr>
        </p:nvSpPr>
        <p:spPr>
          <a:xfrm>
            <a:off x="311700" y="1152475"/>
            <a:ext cx="3999900" cy="378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100" b="1">
                <a:solidFill>
                  <a:schemeClr val="dk1"/>
                </a:solidFill>
              </a:rPr>
              <a:t>Resultados</a:t>
            </a:r>
            <a:endParaRPr sz="2100" b="1">
              <a:solidFill>
                <a:schemeClr val="dk1"/>
              </a:solidFill>
            </a:endParaRPr>
          </a:p>
          <a:p>
            <a:pPr marL="457200" lvl="0" indent="-330200" algn="l" rtl="0">
              <a:spcBef>
                <a:spcPts val="1600"/>
              </a:spcBef>
              <a:spcAft>
                <a:spcPts val="0"/>
              </a:spcAft>
              <a:buSzPts val="1600"/>
              <a:buChar char="●"/>
            </a:pPr>
            <a:r>
              <a:rPr lang="es" sz="1600"/>
              <a:t>Matriz de relación entre Clusters vs Claso Real:</a:t>
            </a:r>
            <a:endParaRPr sz="1600"/>
          </a:p>
          <a:p>
            <a:pPr marL="457200" lvl="0" indent="-330200" algn="l" rtl="0">
              <a:spcBef>
                <a:spcPts val="0"/>
              </a:spcBef>
              <a:spcAft>
                <a:spcPts val="0"/>
              </a:spcAft>
              <a:buSzPts val="1600"/>
              <a:buChar char="●"/>
            </a:pPr>
            <a:endParaRPr sz="1600"/>
          </a:p>
          <a:p>
            <a:pPr marL="457200" lvl="0" indent="-330200" algn="l" rtl="0">
              <a:spcBef>
                <a:spcPts val="0"/>
              </a:spcBef>
              <a:spcAft>
                <a:spcPts val="0"/>
              </a:spcAft>
              <a:buSzPts val="1600"/>
              <a:buChar char="●"/>
            </a:pPr>
            <a:r>
              <a:rPr lang="es" sz="1600"/>
              <a:t>ClasoReal      0     1</a:t>
            </a:r>
            <a:endParaRPr sz="1600"/>
          </a:p>
          <a:p>
            <a:pPr marL="457200" lvl="0" indent="-330200" algn="l" rtl="0">
              <a:spcBef>
                <a:spcPts val="0"/>
              </a:spcBef>
              <a:spcAft>
                <a:spcPts val="0"/>
              </a:spcAft>
              <a:buSzPts val="1600"/>
              <a:buChar char="●"/>
            </a:pPr>
            <a:r>
              <a:rPr lang="es" sz="1600"/>
              <a:t>Cluster               </a:t>
            </a:r>
            <a:endParaRPr sz="1600"/>
          </a:p>
          <a:p>
            <a:pPr marL="457200" lvl="0" indent="-330200" algn="l" rtl="0">
              <a:spcBef>
                <a:spcPts val="0"/>
              </a:spcBef>
              <a:spcAft>
                <a:spcPts val="0"/>
              </a:spcAft>
              <a:buSzPts val="1600"/>
              <a:buChar char="●"/>
            </a:pPr>
            <a:r>
              <a:rPr lang="es" sz="1600"/>
              <a:t>0          12989  2669</a:t>
            </a:r>
            <a:endParaRPr sz="1600"/>
          </a:p>
          <a:p>
            <a:pPr marL="457200" lvl="0" indent="-330200" algn="l" rtl="0">
              <a:spcBef>
                <a:spcPts val="0"/>
              </a:spcBef>
              <a:spcAft>
                <a:spcPts val="0"/>
              </a:spcAft>
              <a:buSzPts val="1600"/>
              <a:buChar char="●"/>
            </a:pPr>
            <a:r>
              <a:rPr lang="es" sz="1600"/>
              <a:t>1          14956  1033</a:t>
            </a:r>
            <a:endParaRPr sz="1600"/>
          </a:p>
        </p:txBody>
      </p:sp>
      <p:pic>
        <p:nvPicPr>
          <p:cNvPr id="130" name="Google Shape;130;p24"/>
          <p:cNvPicPr preferRelativeResize="0"/>
          <p:nvPr/>
        </p:nvPicPr>
        <p:blipFill>
          <a:blip r:embed="rId3">
            <a:alphaModFix/>
          </a:blip>
          <a:stretch>
            <a:fillRect/>
          </a:stretch>
        </p:blipFill>
        <p:spPr>
          <a:xfrm>
            <a:off x="4503175" y="1581575"/>
            <a:ext cx="4527600" cy="3263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25" title="m codo.png"/>
          <p:cNvPicPr preferRelativeResize="0"/>
          <p:nvPr/>
        </p:nvPicPr>
        <p:blipFill rotWithShape="1">
          <a:blip r:embed="rId3">
            <a:alphaModFix/>
          </a:blip>
          <a:srcRect l="10754" r="10746"/>
          <a:stretch/>
        </p:blipFill>
        <p:spPr>
          <a:xfrm>
            <a:off x="78377" y="759834"/>
            <a:ext cx="4342100" cy="3605800"/>
          </a:xfrm>
          <a:prstGeom prst="rect">
            <a:avLst/>
          </a:prstGeom>
          <a:noFill/>
          <a:ln>
            <a:noFill/>
          </a:ln>
        </p:spPr>
      </p:pic>
      <p:pic>
        <p:nvPicPr>
          <p:cNvPr id="136" name="Google Shape;136;p25" title="c silho.png"/>
          <p:cNvPicPr preferRelativeResize="0"/>
          <p:nvPr/>
        </p:nvPicPr>
        <p:blipFill rotWithShape="1">
          <a:blip r:embed="rId4">
            <a:alphaModFix/>
          </a:blip>
          <a:srcRect l="8650" r="8650"/>
          <a:stretch/>
        </p:blipFill>
        <p:spPr>
          <a:xfrm>
            <a:off x="4572000" y="748250"/>
            <a:ext cx="4390424" cy="3605800"/>
          </a:xfrm>
          <a:prstGeom prst="rect">
            <a:avLst/>
          </a:prstGeom>
          <a:noFill/>
          <a:ln>
            <a:noFill/>
          </a:ln>
        </p:spPr>
      </p:pic>
      <p:sp>
        <p:nvSpPr>
          <p:cNvPr id="137" name="Google Shape;137;p25"/>
          <p:cNvSpPr txBox="1"/>
          <p:nvPr/>
        </p:nvSpPr>
        <p:spPr>
          <a:xfrm>
            <a:off x="188100" y="4177500"/>
            <a:ext cx="4849500" cy="82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accent3"/>
              </a:solidFill>
              <a:latin typeface="Average"/>
              <a:ea typeface="Average"/>
              <a:cs typeface="Average"/>
              <a:sym typeface="Average"/>
            </a:endParaRPr>
          </a:p>
        </p:txBody>
      </p:sp>
      <p:sp>
        <p:nvSpPr>
          <p:cNvPr id="138" name="Google Shape;138;p25"/>
          <p:cNvSpPr txBox="1"/>
          <p:nvPr/>
        </p:nvSpPr>
        <p:spPr>
          <a:xfrm>
            <a:off x="2556450" y="42700"/>
            <a:ext cx="3999900" cy="53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300" b="1">
                <a:solidFill>
                  <a:schemeClr val="dk1"/>
                </a:solidFill>
                <a:latin typeface="Oswald"/>
                <a:ea typeface="Oswald"/>
                <a:cs typeface="Oswald"/>
                <a:sym typeface="Oswald"/>
              </a:rPr>
              <a:t>Número óptimo de clusters</a:t>
            </a:r>
            <a:endParaRPr sz="2300" b="1">
              <a:solidFill>
                <a:schemeClr val="dk1"/>
              </a:solidFill>
              <a:latin typeface="Oswald"/>
              <a:ea typeface="Oswald"/>
              <a:cs typeface="Oswald"/>
              <a:sym typeface="Oswald"/>
            </a:endParaRPr>
          </a:p>
        </p:txBody>
      </p:sp>
      <p:pic>
        <p:nvPicPr>
          <p:cNvPr id="139" name="Google Shape;139;p25"/>
          <p:cNvPicPr preferRelativeResize="0"/>
          <p:nvPr/>
        </p:nvPicPr>
        <p:blipFill>
          <a:blip r:embed="rId5">
            <a:alphaModFix/>
          </a:blip>
          <a:stretch>
            <a:fillRect/>
          </a:stretch>
        </p:blipFill>
        <p:spPr>
          <a:xfrm>
            <a:off x="78375" y="759825"/>
            <a:ext cx="4342100" cy="3594225"/>
          </a:xfrm>
          <a:prstGeom prst="rect">
            <a:avLst/>
          </a:prstGeom>
          <a:noFill/>
          <a:ln>
            <a:noFill/>
          </a:ln>
        </p:spPr>
      </p:pic>
      <p:pic>
        <p:nvPicPr>
          <p:cNvPr id="140" name="Google Shape;140;p25"/>
          <p:cNvPicPr preferRelativeResize="0"/>
          <p:nvPr/>
        </p:nvPicPr>
        <p:blipFill>
          <a:blip r:embed="rId6">
            <a:alphaModFix/>
          </a:blip>
          <a:stretch>
            <a:fillRect/>
          </a:stretch>
        </p:blipFill>
        <p:spPr>
          <a:xfrm>
            <a:off x="4572000" y="748250"/>
            <a:ext cx="4390424" cy="3617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26" title="m codo.png"/>
          <p:cNvPicPr preferRelativeResize="0"/>
          <p:nvPr/>
        </p:nvPicPr>
        <p:blipFill rotWithShape="1">
          <a:blip r:embed="rId3">
            <a:alphaModFix/>
          </a:blip>
          <a:srcRect l="10754" r="10746"/>
          <a:stretch/>
        </p:blipFill>
        <p:spPr>
          <a:xfrm>
            <a:off x="78377" y="759834"/>
            <a:ext cx="4342100" cy="3605800"/>
          </a:xfrm>
          <a:prstGeom prst="rect">
            <a:avLst/>
          </a:prstGeom>
          <a:noFill/>
          <a:ln>
            <a:noFill/>
          </a:ln>
        </p:spPr>
      </p:pic>
      <p:pic>
        <p:nvPicPr>
          <p:cNvPr id="146" name="Google Shape;146;p26" title="c silho.png"/>
          <p:cNvPicPr preferRelativeResize="0"/>
          <p:nvPr/>
        </p:nvPicPr>
        <p:blipFill rotWithShape="1">
          <a:blip r:embed="rId4">
            <a:alphaModFix/>
          </a:blip>
          <a:srcRect l="8650" r="8650"/>
          <a:stretch/>
        </p:blipFill>
        <p:spPr>
          <a:xfrm>
            <a:off x="4572000" y="748250"/>
            <a:ext cx="4390424" cy="3605800"/>
          </a:xfrm>
          <a:prstGeom prst="rect">
            <a:avLst/>
          </a:prstGeom>
          <a:noFill/>
          <a:ln>
            <a:noFill/>
          </a:ln>
        </p:spPr>
      </p:pic>
      <p:sp>
        <p:nvSpPr>
          <p:cNvPr id="147" name="Google Shape;147;p26"/>
          <p:cNvSpPr txBox="1"/>
          <p:nvPr/>
        </p:nvSpPr>
        <p:spPr>
          <a:xfrm>
            <a:off x="2556450" y="42700"/>
            <a:ext cx="3999900" cy="53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300" b="1">
                <a:solidFill>
                  <a:schemeClr val="dk1"/>
                </a:solidFill>
                <a:latin typeface="Oswald"/>
                <a:ea typeface="Oswald"/>
                <a:cs typeface="Oswald"/>
                <a:sym typeface="Oswald"/>
              </a:rPr>
              <a:t>Visualización de los clusters</a:t>
            </a:r>
            <a:endParaRPr sz="2300" b="1">
              <a:solidFill>
                <a:schemeClr val="dk1"/>
              </a:solidFill>
              <a:latin typeface="Oswald"/>
              <a:ea typeface="Oswald"/>
              <a:cs typeface="Oswald"/>
              <a:sym typeface="Oswald"/>
            </a:endParaRPr>
          </a:p>
        </p:txBody>
      </p:sp>
      <p:pic>
        <p:nvPicPr>
          <p:cNvPr id="148" name="Google Shape;148;p26"/>
          <p:cNvPicPr preferRelativeResize="0"/>
          <p:nvPr/>
        </p:nvPicPr>
        <p:blipFill>
          <a:blip r:embed="rId5">
            <a:alphaModFix/>
          </a:blip>
          <a:stretch>
            <a:fillRect/>
          </a:stretch>
        </p:blipFill>
        <p:spPr>
          <a:xfrm>
            <a:off x="78375" y="759825"/>
            <a:ext cx="4342100" cy="3594225"/>
          </a:xfrm>
          <a:prstGeom prst="rect">
            <a:avLst/>
          </a:prstGeom>
          <a:noFill/>
          <a:ln>
            <a:noFill/>
          </a:ln>
        </p:spPr>
      </p:pic>
      <p:pic>
        <p:nvPicPr>
          <p:cNvPr id="149" name="Google Shape;149;p26"/>
          <p:cNvPicPr preferRelativeResize="0"/>
          <p:nvPr/>
        </p:nvPicPr>
        <p:blipFill>
          <a:blip r:embed="rId6">
            <a:alphaModFix/>
          </a:blip>
          <a:stretch>
            <a:fillRect/>
          </a:stretch>
        </p:blipFill>
        <p:spPr>
          <a:xfrm>
            <a:off x="4572000" y="748250"/>
            <a:ext cx="4390424" cy="3617375"/>
          </a:xfrm>
          <a:prstGeom prst="rect">
            <a:avLst/>
          </a:prstGeom>
          <a:noFill/>
          <a:ln>
            <a:noFill/>
          </a:ln>
        </p:spPr>
      </p:pic>
      <p:pic>
        <p:nvPicPr>
          <p:cNvPr id="150" name="Google Shape;150;p26"/>
          <p:cNvPicPr preferRelativeResize="0"/>
          <p:nvPr/>
        </p:nvPicPr>
        <p:blipFill>
          <a:blip r:embed="rId7">
            <a:alphaModFix/>
          </a:blip>
          <a:stretch>
            <a:fillRect/>
          </a:stretch>
        </p:blipFill>
        <p:spPr>
          <a:xfrm>
            <a:off x="78375" y="759825"/>
            <a:ext cx="4342101" cy="3617375"/>
          </a:xfrm>
          <a:prstGeom prst="rect">
            <a:avLst/>
          </a:prstGeom>
          <a:noFill/>
          <a:ln>
            <a:noFill/>
          </a:ln>
        </p:spPr>
      </p:pic>
      <p:pic>
        <p:nvPicPr>
          <p:cNvPr id="151" name="Google Shape;151;p26"/>
          <p:cNvPicPr preferRelativeResize="0"/>
          <p:nvPr/>
        </p:nvPicPr>
        <p:blipFill>
          <a:blip r:embed="rId8">
            <a:alphaModFix/>
          </a:blip>
          <a:stretch>
            <a:fillRect/>
          </a:stretch>
        </p:blipFill>
        <p:spPr>
          <a:xfrm>
            <a:off x="4572000" y="759825"/>
            <a:ext cx="4390425" cy="359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7"/>
          <p:cNvSpPr txBox="1">
            <a:spLocks noGrp="1"/>
          </p:cNvSpPr>
          <p:nvPr>
            <p:ph type="body" idx="4294967295"/>
          </p:nvPr>
        </p:nvSpPr>
        <p:spPr>
          <a:xfrm>
            <a:off x="125550" y="201821"/>
            <a:ext cx="4833900" cy="348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100" b="1">
                <a:solidFill>
                  <a:schemeClr val="dk1"/>
                </a:solidFill>
              </a:rPr>
              <a:t>Resultados</a:t>
            </a:r>
            <a:endParaRPr sz="2100" b="1">
              <a:solidFill>
                <a:schemeClr val="dk1"/>
              </a:solidFill>
            </a:endParaRPr>
          </a:p>
          <a:p>
            <a:pPr marL="457200" lvl="0" indent="-323850" algn="l" rtl="0">
              <a:spcBef>
                <a:spcPts val="1600"/>
              </a:spcBef>
              <a:spcAft>
                <a:spcPts val="0"/>
              </a:spcAft>
              <a:buSzPts val="1500"/>
              <a:buChar char="●"/>
            </a:pPr>
            <a:r>
              <a:rPr lang="es" sz="1500"/>
              <a:t>La representación de los grupos mediante PCA evidencia que los clusters presentan cierto grado de separación en el espacio reducido, lo que confirma la existencia de patrones en los datos sin supervisión.</a:t>
            </a:r>
            <a:endParaRPr sz="1500"/>
          </a:p>
          <a:p>
            <a:pPr marL="457200" lvl="0" indent="-323850" algn="l" rtl="0">
              <a:spcBef>
                <a:spcPts val="0"/>
              </a:spcBef>
              <a:spcAft>
                <a:spcPts val="0"/>
              </a:spcAft>
              <a:buSzPts val="1500"/>
              <a:buChar char="●"/>
            </a:pPr>
            <a:r>
              <a:rPr lang="es" sz="1500"/>
              <a:t>No obstante, al colorear los puntos según la clase real, se observa una superposición significativa, lo cual indica que la estructura que K-Means encuentra no coincide perfectamente con la clasificación binaria del problema.</a:t>
            </a:r>
            <a:endParaRPr sz="1500"/>
          </a:p>
          <a:p>
            <a:pPr marL="457200" lvl="0" indent="-323850" algn="l" rtl="0">
              <a:spcBef>
                <a:spcPts val="0"/>
              </a:spcBef>
              <a:spcAft>
                <a:spcPts val="0"/>
              </a:spcAft>
              <a:buSzPts val="1500"/>
              <a:buChar char="●"/>
            </a:pPr>
            <a:r>
              <a:rPr lang="es" sz="1500"/>
              <a:t>Esto revela que la respuesta del cliente a la campaña bancaria no depende exclusivamente de patrones lineales, por lo que los métodos supervisados pueden capturar relaciones más complejas que el clustering no supervisado.</a:t>
            </a:r>
            <a:endParaRPr sz="1500"/>
          </a:p>
        </p:txBody>
      </p:sp>
      <p:pic>
        <p:nvPicPr>
          <p:cNvPr id="157" name="Google Shape;157;p27"/>
          <p:cNvPicPr preferRelativeResize="0"/>
          <p:nvPr/>
        </p:nvPicPr>
        <p:blipFill>
          <a:blip r:embed="rId3">
            <a:alphaModFix/>
          </a:blip>
          <a:stretch>
            <a:fillRect/>
          </a:stretch>
        </p:blipFill>
        <p:spPr>
          <a:xfrm>
            <a:off x="5600425" y="694413"/>
            <a:ext cx="3319924" cy="2127858"/>
          </a:xfrm>
          <a:prstGeom prst="rect">
            <a:avLst/>
          </a:prstGeom>
          <a:noFill/>
          <a:ln>
            <a:noFill/>
          </a:ln>
        </p:spPr>
      </p:pic>
      <p:pic>
        <p:nvPicPr>
          <p:cNvPr id="158" name="Google Shape;158;p27"/>
          <p:cNvPicPr preferRelativeResize="0"/>
          <p:nvPr/>
        </p:nvPicPr>
        <p:blipFill rotWithShape="1">
          <a:blip r:embed="rId4">
            <a:alphaModFix/>
          </a:blip>
          <a:srcRect/>
          <a:stretch/>
        </p:blipFill>
        <p:spPr>
          <a:xfrm>
            <a:off x="5600424" y="2954775"/>
            <a:ext cx="3319925" cy="2066800"/>
          </a:xfrm>
          <a:prstGeom prst="rect">
            <a:avLst/>
          </a:prstGeom>
          <a:noFill/>
          <a:ln>
            <a:noFill/>
          </a:ln>
        </p:spPr>
      </p:pic>
      <p:pic>
        <p:nvPicPr>
          <p:cNvPr id="159" name="Google Shape;159;p27"/>
          <p:cNvPicPr preferRelativeResize="0"/>
          <p:nvPr/>
        </p:nvPicPr>
        <p:blipFill>
          <a:blip r:embed="rId5">
            <a:alphaModFix/>
          </a:blip>
          <a:stretch>
            <a:fillRect/>
          </a:stretch>
        </p:blipFill>
        <p:spPr>
          <a:xfrm>
            <a:off x="5076875" y="694425"/>
            <a:ext cx="3843475" cy="4327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8"/>
          <p:cNvSpPr txBox="1">
            <a:spLocks noGrp="1"/>
          </p:cNvSpPr>
          <p:nvPr>
            <p:ph type="title" idx="4294967295"/>
          </p:nvPr>
        </p:nvSpPr>
        <p:spPr>
          <a:xfrm>
            <a:off x="311700" y="121719"/>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t-SNE</a:t>
            </a:r>
            <a:endParaRPr/>
          </a:p>
        </p:txBody>
      </p:sp>
      <p:sp>
        <p:nvSpPr>
          <p:cNvPr id="165" name="Google Shape;165;p28"/>
          <p:cNvSpPr txBox="1">
            <a:spLocks noGrp="1"/>
          </p:cNvSpPr>
          <p:nvPr>
            <p:ph type="body" idx="4294967295"/>
          </p:nvPr>
        </p:nvSpPr>
        <p:spPr>
          <a:xfrm>
            <a:off x="311700" y="780180"/>
            <a:ext cx="4598700" cy="378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100" b="1">
                <a:solidFill>
                  <a:schemeClr val="dk1"/>
                </a:solidFill>
              </a:rPr>
              <a:t>Resultados</a:t>
            </a:r>
            <a:endParaRPr sz="2100" b="1">
              <a:solidFill>
                <a:schemeClr val="dk1"/>
              </a:solidFill>
            </a:endParaRPr>
          </a:p>
          <a:p>
            <a:pPr marL="457200" lvl="0" indent="-330200" algn="l" rtl="0">
              <a:spcBef>
                <a:spcPts val="1600"/>
              </a:spcBef>
              <a:spcAft>
                <a:spcPts val="0"/>
              </a:spcAft>
              <a:buSzPts val="1600"/>
              <a:buChar char="●"/>
            </a:pPr>
            <a:r>
              <a:rPr lang="es" sz="1600"/>
              <a:t>La técnica t-SNE permite observar estructuras no lineales en el espacio de características. Aunque se logra una ligera separación de grupos en la proyección bidimensional, se observa una mezcla considerable entre clientes que aceptan y no aceptan el depósito.</a:t>
            </a:r>
            <a:endParaRPr sz="1600"/>
          </a:p>
          <a:p>
            <a:pPr marL="457200" lvl="0" indent="-330200" algn="l" rtl="0">
              <a:spcBef>
                <a:spcPts val="0"/>
              </a:spcBef>
              <a:spcAft>
                <a:spcPts val="0"/>
              </a:spcAft>
              <a:buSzPts val="1600"/>
              <a:buChar char="●"/>
            </a:pPr>
            <a:r>
              <a:rPr lang="es" sz="1600"/>
              <a:t>Esto confirma que el comportamiento del cliente es complejo y que los algoritmos no supervisados por sí solos no logran separar adecuadamente a los clientes según la probabilidad de suscribirse al depósito. Por tanto, los enfoques supervisados resultan más apropiados para este problema.</a:t>
            </a:r>
            <a:endParaRPr sz="1600"/>
          </a:p>
        </p:txBody>
      </p:sp>
      <p:pic>
        <p:nvPicPr>
          <p:cNvPr id="166" name="Google Shape;166;p28"/>
          <p:cNvPicPr preferRelativeResize="0"/>
          <p:nvPr/>
        </p:nvPicPr>
        <p:blipFill rotWithShape="1">
          <a:blip r:embed="rId3">
            <a:alphaModFix/>
          </a:blip>
          <a:srcRect/>
          <a:stretch/>
        </p:blipFill>
        <p:spPr>
          <a:xfrm>
            <a:off x="5600424" y="2954775"/>
            <a:ext cx="3319925" cy="2066800"/>
          </a:xfrm>
          <a:prstGeom prst="rect">
            <a:avLst/>
          </a:prstGeom>
          <a:noFill/>
          <a:ln>
            <a:noFill/>
          </a:ln>
        </p:spPr>
      </p:pic>
      <p:pic>
        <p:nvPicPr>
          <p:cNvPr id="167" name="Google Shape;167;p28"/>
          <p:cNvPicPr preferRelativeResize="0"/>
          <p:nvPr/>
        </p:nvPicPr>
        <p:blipFill>
          <a:blip r:embed="rId4">
            <a:alphaModFix/>
          </a:blip>
          <a:stretch>
            <a:fillRect/>
          </a:stretch>
        </p:blipFill>
        <p:spPr>
          <a:xfrm>
            <a:off x="5116075" y="220150"/>
            <a:ext cx="3804275" cy="2311426"/>
          </a:xfrm>
          <a:prstGeom prst="rect">
            <a:avLst/>
          </a:prstGeom>
          <a:noFill/>
          <a:ln>
            <a:noFill/>
          </a:ln>
        </p:spPr>
      </p:pic>
      <p:pic>
        <p:nvPicPr>
          <p:cNvPr id="168" name="Google Shape;168;p28"/>
          <p:cNvPicPr preferRelativeResize="0"/>
          <p:nvPr/>
        </p:nvPicPr>
        <p:blipFill>
          <a:blip r:embed="rId5">
            <a:alphaModFix/>
          </a:blip>
          <a:stretch>
            <a:fillRect/>
          </a:stretch>
        </p:blipFill>
        <p:spPr>
          <a:xfrm>
            <a:off x="5116075" y="2716999"/>
            <a:ext cx="3804275" cy="23114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9"/>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4500"/>
              <a:t>Aprendizaje supervisado (REGRESION LOGISTICA Y RANDOM FOREST)</a:t>
            </a:r>
            <a:endParaRPr sz="4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0"/>
          <p:cNvSpPr txBox="1">
            <a:spLocks noGrp="1"/>
          </p:cNvSpPr>
          <p:nvPr>
            <p:ph type="title" idx="4294967295"/>
          </p:nvPr>
        </p:nvSpPr>
        <p:spPr>
          <a:xfrm>
            <a:off x="311700" y="121719"/>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Comparación de métricas</a:t>
            </a:r>
            <a:endParaRPr/>
          </a:p>
        </p:txBody>
      </p:sp>
      <p:sp>
        <p:nvSpPr>
          <p:cNvPr id="179" name="Google Shape;179;p30"/>
          <p:cNvSpPr txBox="1">
            <a:spLocks noGrp="1"/>
          </p:cNvSpPr>
          <p:nvPr>
            <p:ph type="body" idx="4294967295"/>
          </p:nvPr>
        </p:nvSpPr>
        <p:spPr>
          <a:xfrm>
            <a:off x="311700" y="897750"/>
            <a:ext cx="3999900" cy="378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100" b="1">
                <a:solidFill>
                  <a:schemeClr val="dk1"/>
                </a:solidFill>
              </a:rPr>
              <a:t>Resultados</a:t>
            </a:r>
            <a:endParaRPr sz="2100" b="1">
              <a:solidFill>
                <a:schemeClr val="dk1"/>
              </a:solidFill>
            </a:endParaRPr>
          </a:p>
          <a:p>
            <a:pPr marL="457200" lvl="0" indent="-330200" algn="l" rtl="0">
              <a:spcBef>
                <a:spcPts val="1600"/>
              </a:spcBef>
              <a:spcAft>
                <a:spcPts val="0"/>
              </a:spcAft>
              <a:buSzPts val="1600"/>
              <a:buChar char="●"/>
            </a:pPr>
            <a:r>
              <a:rPr lang="es" sz="1600"/>
              <a:t>Se puede apreciar claramente que para este dataset ambos modelos arrojaron métricas similares.</a:t>
            </a:r>
            <a:endParaRPr sz="1600"/>
          </a:p>
        </p:txBody>
      </p:sp>
      <p:pic>
        <p:nvPicPr>
          <p:cNvPr id="180" name="Google Shape;180;p30"/>
          <p:cNvPicPr preferRelativeResize="0"/>
          <p:nvPr/>
        </p:nvPicPr>
        <p:blipFill rotWithShape="1">
          <a:blip r:embed="rId3">
            <a:alphaModFix/>
          </a:blip>
          <a:srcRect/>
          <a:stretch/>
        </p:blipFill>
        <p:spPr>
          <a:xfrm>
            <a:off x="5600424" y="2954775"/>
            <a:ext cx="3319925" cy="2066800"/>
          </a:xfrm>
          <a:prstGeom prst="rect">
            <a:avLst/>
          </a:prstGeom>
          <a:noFill/>
          <a:ln>
            <a:noFill/>
          </a:ln>
        </p:spPr>
      </p:pic>
      <p:pic>
        <p:nvPicPr>
          <p:cNvPr id="181" name="Google Shape;181;p30"/>
          <p:cNvPicPr preferRelativeResize="0"/>
          <p:nvPr/>
        </p:nvPicPr>
        <p:blipFill>
          <a:blip r:embed="rId4">
            <a:alphaModFix/>
          </a:blip>
          <a:stretch>
            <a:fillRect/>
          </a:stretch>
        </p:blipFill>
        <p:spPr>
          <a:xfrm>
            <a:off x="4675200" y="797475"/>
            <a:ext cx="4337300" cy="4224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1" title="m codo.png"/>
          <p:cNvPicPr preferRelativeResize="0"/>
          <p:nvPr/>
        </p:nvPicPr>
        <p:blipFill rotWithShape="1">
          <a:blip r:embed="rId3">
            <a:alphaModFix/>
          </a:blip>
          <a:srcRect l="10754" r="10746"/>
          <a:stretch/>
        </p:blipFill>
        <p:spPr>
          <a:xfrm>
            <a:off x="78377" y="759834"/>
            <a:ext cx="4342100" cy="3605800"/>
          </a:xfrm>
          <a:prstGeom prst="rect">
            <a:avLst/>
          </a:prstGeom>
          <a:noFill/>
          <a:ln>
            <a:noFill/>
          </a:ln>
        </p:spPr>
      </p:pic>
      <p:pic>
        <p:nvPicPr>
          <p:cNvPr id="187" name="Google Shape;187;p31" title="c silho.png"/>
          <p:cNvPicPr preferRelativeResize="0"/>
          <p:nvPr/>
        </p:nvPicPr>
        <p:blipFill rotWithShape="1">
          <a:blip r:embed="rId4">
            <a:alphaModFix/>
          </a:blip>
          <a:srcRect l="8650" r="8650"/>
          <a:stretch/>
        </p:blipFill>
        <p:spPr>
          <a:xfrm>
            <a:off x="4572000" y="748250"/>
            <a:ext cx="4390424" cy="3605800"/>
          </a:xfrm>
          <a:prstGeom prst="rect">
            <a:avLst/>
          </a:prstGeom>
          <a:noFill/>
          <a:ln>
            <a:noFill/>
          </a:ln>
        </p:spPr>
      </p:pic>
      <p:sp>
        <p:nvSpPr>
          <p:cNvPr id="188" name="Google Shape;188;p31"/>
          <p:cNvSpPr txBox="1"/>
          <p:nvPr/>
        </p:nvSpPr>
        <p:spPr>
          <a:xfrm>
            <a:off x="2556450" y="42700"/>
            <a:ext cx="3999900" cy="53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300" b="1">
                <a:solidFill>
                  <a:schemeClr val="dk1"/>
                </a:solidFill>
                <a:latin typeface="Oswald"/>
                <a:ea typeface="Oswald"/>
                <a:cs typeface="Oswald"/>
                <a:sym typeface="Oswald"/>
              </a:rPr>
              <a:t>Matriz de confusión</a:t>
            </a:r>
            <a:endParaRPr sz="2300" b="1">
              <a:solidFill>
                <a:schemeClr val="dk1"/>
              </a:solidFill>
              <a:latin typeface="Oswald"/>
              <a:ea typeface="Oswald"/>
              <a:cs typeface="Oswald"/>
              <a:sym typeface="Oswald"/>
            </a:endParaRPr>
          </a:p>
        </p:txBody>
      </p:sp>
      <p:pic>
        <p:nvPicPr>
          <p:cNvPr id="189" name="Google Shape;189;p31"/>
          <p:cNvPicPr preferRelativeResize="0"/>
          <p:nvPr/>
        </p:nvPicPr>
        <p:blipFill>
          <a:blip r:embed="rId5">
            <a:alphaModFix/>
          </a:blip>
          <a:stretch>
            <a:fillRect/>
          </a:stretch>
        </p:blipFill>
        <p:spPr>
          <a:xfrm>
            <a:off x="78375" y="759825"/>
            <a:ext cx="4342100" cy="3594225"/>
          </a:xfrm>
          <a:prstGeom prst="rect">
            <a:avLst/>
          </a:prstGeom>
          <a:noFill/>
          <a:ln>
            <a:noFill/>
          </a:ln>
        </p:spPr>
      </p:pic>
      <p:pic>
        <p:nvPicPr>
          <p:cNvPr id="190" name="Google Shape;190;p31"/>
          <p:cNvPicPr preferRelativeResize="0"/>
          <p:nvPr/>
        </p:nvPicPr>
        <p:blipFill>
          <a:blip r:embed="rId6">
            <a:alphaModFix/>
          </a:blip>
          <a:stretch>
            <a:fillRect/>
          </a:stretch>
        </p:blipFill>
        <p:spPr>
          <a:xfrm>
            <a:off x="4572000" y="748250"/>
            <a:ext cx="4390424" cy="3617375"/>
          </a:xfrm>
          <a:prstGeom prst="rect">
            <a:avLst/>
          </a:prstGeom>
          <a:noFill/>
          <a:ln>
            <a:noFill/>
          </a:ln>
        </p:spPr>
      </p:pic>
      <p:pic>
        <p:nvPicPr>
          <p:cNvPr id="191" name="Google Shape;191;p31"/>
          <p:cNvPicPr preferRelativeResize="0"/>
          <p:nvPr/>
        </p:nvPicPr>
        <p:blipFill>
          <a:blip r:embed="rId7">
            <a:alphaModFix/>
          </a:blip>
          <a:stretch>
            <a:fillRect/>
          </a:stretch>
        </p:blipFill>
        <p:spPr>
          <a:xfrm>
            <a:off x="78375" y="759825"/>
            <a:ext cx="4342101" cy="3617375"/>
          </a:xfrm>
          <a:prstGeom prst="rect">
            <a:avLst/>
          </a:prstGeom>
          <a:noFill/>
          <a:ln>
            <a:noFill/>
          </a:ln>
        </p:spPr>
      </p:pic>
      <p:pic>
        <p:nvPicPr>
          <p:cNvPr id="192" name="Google Shape;192;p31"/>
          <p:cNvPicPr preferRelativeResize="0"/>
          <p:nvPr/>
        </p:nvPicPr>
        <p:blipFill>
          <a:blip r:embed="rId8">
            <a:alphaModFix/>
          </a:blip>
          <a:stretch>
            <a:fillRect/>
          </a:stretch>
        </p:blipFill>
        <p:spPr>
          <a:xfrm>
            <a:off x="4572000" y="759825"/>
            <a:ext cx="4390425" cy="3594225"/>
          </a:xfrm>
          <a:prstGeom prst="rect">
            <a:avLst/>
          </a:prstGeom>
          <a:noFill/>
          <a:ln>
            <a:noFill/>
          </a:ln>
        </p:spPr>
      </p:pic>
      <p:pic>
        <p:nvPicPr>
          <p:cNvPr id="193" name="Google Shape;193;p31"/>
          <p:cNvPicPr preferRelativeResize="0"/>
          <p:nvPr/>
        </p:nvPicPr>
        <p:blipFill>
          <a:blip r:embed="rId9">
            <a:alphaModFix/>
          </a:blip>
          <a:stretch>
            <a:fillRect/>
          </a:stretch>
        </p:blipFill>
        <p:spPr>
          <a:xfrm>
            <a:off x="78375" y="759825"/>
            <a:ext cx="4342100" cy="3617375"/>
          </a:xfrm>
          <a:prstGeom prst="rect">
            <a:avLst/>
          </a:prstGeom>
          <a:noFill/>
          <a:ln>
            <a:noFill/>
          </a:ln>
        </p:spPr>
      </p:pic>
      <p:pic>
        <p:nvPicPr>
          <p:cNvPr id="194" name="Google Shape;194;p31"/>
          <p:cNvPicPr preferRelativeResize="0"/>
          <p:nvPr/>
        </p:nvPicPr>
        <p:blipFill>
          <a:blip r:embed="rId10">
            <a:alphaModFix/>
          </a:blip>
          <a:stretch>
            <a:fillRect/>
          </a:stretch>
        </p:blipFill>
        <p:spPr>
          <a:xfrm>
            <a:off x="4571700" y="748250"/>
            <a:ext cx="4391025" cy="3617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p:nvPr/>
        </p:nvSpPr>
        <p:spPr>
          <a:xfrm>
            <a:off x="2556450" y="42700"/>
            <a:ext cx="3999900" cy="53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300" b="1">
                <a:solidFill>
                  <a:schemeClr val="dk1"/>
                </a:solidFill>
                <a:latin typeface="Oswald"/>
                <a:ea typeface="Oswald"/>
                <a:cs typeface="Oswald"/>
                <a:sym typeface="Oswald"/>
              </a:rPr>
              <a:t>Classification Report</a:t>
            </a:r>
            <a:endParaRPr sz="2300" b="1">
              <a:solidFill>
                <a:schemeClr val="dk1"/>
              </a:solidFill>
              <a:latin typeface="Oswald"/>
              <a:ea typeface="Oswald"/>
              <a:cs typeface="Oswald"/>
              <a:sym typeface="Oswald"/>
            </a:endParaRPr>
          </a:p>
        </p:txBody>
      </p:sp>
      <p:pic>
        <p:nvPicPr>
          <p:cNvPr id="200" name="Google Shape;200;p32"/>
          <p:cNvPicPr preferRelativeResize="0"/>
          <p:nvPr/>
        </p:nvPicPr>
        <p:blipFill>
          <a:blip r:embed="rId3">
            <a:alphaModFix/>
          </a:blip>
          <a:stretch>
            <a:fillRect/>
          </a:stretch>
        </p:blipFill>
        <p:spPr>
          <a:xfrm>
            <a:off x="78375" y="748250"/>
            <a:ext cx="4342101" cy="3594225"/>
          </a:xfrm>
          <a:prstGeom prst="rect">
            <a:avLst/>
          </a:prstGeom>
          <a:noFill/>
          <a:ln>
            <a:noFill/>
          </a:ln>
        </p:spPr>
      </p:pic>
      <p:pic>
        <p:nvPicPr>
          <p:cNvPr id="201" name="Google Shape;201;p32"/>
          <p:cNvPicPr preferRelativeResize="0"/>
          <p:nvPr/>
        </p:nvPicPr>
        <p:blipFill>
          <a:blip r:embed="rId4">
            <a:alphaModFix/>
          </a:blip>
          <a:stretch>
            <a:fillRect/>
          </a:stretch>
        </p:blipFill>
        <p:spPr>
          <a:xfrm>
            <a:off x="4572000" y="748250"/>
            <a:ext cx="4390426" cy="3594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txBox="1">
            <a:spLocks noGrp="1"/>
          </p:cNvSpPr>
          <p:nvPr>
            <p:ph type="title" idx="4294967295"/>
          </p:nvPr>
        </p:nvSpPr>
        <p:spPr>
          <a:xfrm>
            <a:off x="311700" y="445025"/>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Análisis</a:t>
            </a:r>
            <a:endParaRPr/>
          </a:p>
        </p:txBody>
      </p:sp>
      <p:sp>
        <p:nvSpPr>
          <p:cNvPr id="207" name="Google Shape;207;p33"/>
          <p:cNvSpPr txBox="1">
            <a:spLocks noGrp="1"/>
          </p:cNvSpPr>
          <p:nvPr>
            <p:ph type="body" idx="4294967295"/>
          </p:nvPr>
        </p:nvSpPr>
        <p:spPr>
          <a:xfrm>
            <a:off x="311700" y="1103489"/>
            <a:ext cx="8272500" cy="375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Las graficas revelan que estos modelos a pesar de tener un acuraccy alto suele ser mas efectivo al momento de decidir los clientes que no aceptaran la campaña y se queda corto al momento de decidir los que si aceptan.</a:t>
            </a:r>
            <a:br>
              <a:rPr lang="es" sz="1600"/>
            </a:br>
            <a:br>
              <a:rPr lang="es" sz="1600"/>
            </a:br>
            <a:r>
              <a:rPr lang="es" sz="1600"/>
              <a:t>Necesita ajustes para ser útil, para casos de marketing, lo importante es captar positivos, no evitar falsos positivos.</a:t>
            </a:r>
            <a:endParaRPr sz="1600"/>
          </a:p>
          <a:p>
            <a:pPr marL="0" lvl="0" indent="0" algn="l" rtl="0">
              <a:spcBef>
                <a:spcPts val="1600"/>
              </a:spcBef>
              <a:spcAft>
                <a:spcPts val="0"/>
              </a:spcAft>
              <a:buNone/>
            </a:pPr>
            <a:r>
              <a:rPr lang="es" sz="1600"/>
              <a:t>Este comportamiento indica que se debe aplicar:</a:t>
            </a:r>
            <a:endParaRPr sz="1600"/>
          </a:p>
          <a:p>
            <a:pPr marL="457200" lvl="0" indent="-330200" algn="l" rtl="0">
              <a:spcBef>
                <a:spcPts val="1600"/>
              </a:spcBef>
              <a:spcAft>
                <a:spcPts val="0"/>
              </a:spcAft>
              <a:buSzPts val="1600"/>
              <a:buChar char="●"/>
            </a:pPr>
            <a:r>
              <a:rPr lang="es" sz="1600"/>
              <a:t>Ajuste de threshold del modelo.</a:t>
            </a:r>
            <a:endParaRPr sz="1600"/>
          </a:p>
          <a:p>
            <a:pPr marL="457200" lvl="0" indent="-330200" algn="l" rtl="0">
              <a:spcBef>
                <a:spcPts val="0"/>
              </a:spcBef>
              <a:spcAft>
                <a:spcPts val="0"/>
              </a:spcAft>
              <a:buSzPts val="1600"/>
              <a:buChar char="●"/>
            </a:pPr>
            <a:r>
              <a:rPr lang="es" sz="1600"/>
              <a:t>Class weights (balanceado).</a:t>
            </a:r>
            <a:endParaRPr sz="1600"/>
          </a:p>
          <a:p>
            <a:pPr marL="457200" lvl="0" indent="-330200" algn="l" rtl="0">
              <a:spcBef>
                <a:spcPts val="0"/>
              </a:spcBef>
              <a:spcAft>
                <a:spcPts val="0"/>
              </a:spcAft>
              <a:buSzPts val="1600"/>
              <a:buChar char="●"/>
            </a:pPr>
            <a:r>
              <a:rPr lang="es" sz="1600"/>
              <a:t>Oversampling (SMOTE o similar).</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p:nvPr/>
        </p:nvSpPr>
        <p:spPr>
          <a:xfrm>
            <a:off x="741300" y="199875"/>
            <a:ext cx="7661400" cy="84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600" b="1">
                <a:solidFill>
                  <a:schemeClr val="dk1"/>
                </a:solidFill>
                <a:latin typeface="Oswald"/>
                <a:ea typeface="Oswald"/>
                <a:cs typeface="Oswald"/>
                <a:sym typeface="Oswald"/>
              </a:rPr>
              <a:t>Resultados de Validación Cruzada (CV=3):</a:t>
            </a:r>
            <a:endParaRPr sz="2600" b="1">
              <a:solidFill>
                <a:schemeClr val="dk1"/>
              </a:solidFill>
              <a:latin typeface="Oswald"/>
              <a:ea typeface="Oswald"/>
              <a:cs typeface="Oswald"/>
              <a:sym typeface="Oswald"/>
            </a:endParaRPr>
          </a:p>
        </p:txBody>
      </p:sp>
      <p:pic>
        <p:nvPicPr>
          <p:cNvPr id="213" name="Google Shape;213;p34"/>
          <p:cNvPicPr preferRelativeResize="0"/>
          <p:nvPr/>
        </p:nvPicPr>
        <p:blipFill>
          <a:blip r:embed="rId3">
            <a:alphaModFix/>
          </a:blip>
          <a:stretch>
            <a:fillRect/>
          </a:stretch>
        </p:blipFill>
        <p:spPr>
          <a:xfrm>
            <a:off x="152400" y="1802200"/>
            <a:ext cx="8839201" cy="1078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5"/>
          <p:cNvSpPr txBox="1">
            <a:spLocks noGrp="1"/>
          </p:cNvSpPr>
          <p:nvPr>
            <p:ph type="body" idx="4294967295"/>
          </p:nvPr>
        </p:nvSpPr>
        <p:spPr>
          <a:xfrm>
            <a:off x="125550" y="201827"/>
            <a:ext cx="4833900" cy="47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100" b="1">
                <a:solidFill>
                  <a:schemeClr val="dk1"/>
                </a:solidFill>
              </a:rPr>
              <a:t>Resultados</a:t>
            </a:r>
            <a:endParaRPr sz="2100" b="1">
              <a:solidFill>
                <a:schemeClr val="dk1"/>
              </a:solidFill>
            </a:endParaRPr>
          </a:p>
          <a:p>
            <a:pPr marL="0" lvl="0" indent="0" algn="l" rtl="0">
              <a:spcBef>
                <a:spcPts val="1600"/>
              </a:spcBef>
              <a:spcAft>
                <a:spcPts val="0"/>
              </a:spcAft>
              <a:buNone/>
            </a:pPr>
            <a:r>
              <a:rPr lang="es" sz="1700">
                <a:solidFill>
                  <a:schemeClr val="dk1"/>
                </a:solidFill>
                <a:latin typeface="Oswald"/>
                <a:ea typeface="Oswald"/>
                <a:cs typeface="Oswald"/>
                <a:sym typeface="Oswald"/>
              </a:rPr>
              <a:t>Conclusión de Random Forest:</a:t>
            </a:r>
            <a:endParaRPr sz="1700">
              <a:solidFill>
                <a:schemeClr val="dk1"/>
              </a:solidFill>
              <a:latin typeface="Oswald"/>
              <a:ea typeface="Oswald"/>
              <a:cs typeface="Oswald"/>
              <a:sym typeface="Oswald"/>
            </a:endParaRPr>
          </a:p>
          <a:p>
            <a:pPr marL="457200" lvl="0" indent="-323850" algn="l" rtl="0">
              <a:spcBef>
                <a:spcPts val="1600"/>
              </a:spcBef>
              <a:spcAft>
                <a:spcPts val="0"/>
              </a:spcAft>
              <a:buSzPts val="1500"/>
              <a:buChar char="●"/>
            </a:pPr>
            <a:r>
              <a:rPr lang="es" sz="1500"/>
              <a:t>Se aprecia la consistencia de un modelo no lineal priorizando cosas como el historial de interacción y los factores financieros, captando interacciones complejas entre estas variables.</a:t>
            </a:r>
            <a:endParaRPr sz="1500"/>
          </a:p>
          <a:p>
            <a:pPr marL="0" lvl="0" indent="0" algn="l" rtl="0">
              <a:spcBef>
                <a:spcPts val="1600"/>
              </a:spcBef>
              <a:spcAft>
                <a:spcPts val="0"/>
              </a:spcAft>
              <a:buNone/>
            </a:pPr>
            <a:r>
              <a:rPr lang="es" sz="1700">
                <a:solidFill>
                  <a:schemeClr val="dk1"/>
                </a:solidFill>
                <a:latin typeface="Oswald"/>
                <a:ea typeface="Oswald"/>
                <a:cs typeface="Oswald"/>
                <a:sym typeface="Oswald"/>
              </a:rPr>
              <a:t>Conclusión Regresión Logística:</a:t>
            </a:r>
            <a:endParaRPr sz="1700">
              <a:solidFill>
                <a:schemeClr val="dk1"/>
              </a:solidFill>
              <a:latin typeface="Oswald"/>
              <a:ea typeface="Oswald"/>
              <a:cs typeface="Oswald"/>
              <a:sym typeface="Oswald"/>
            </a:endParaRPr>
          </a:p>
          <a:p>
            <a:pPr marL="457200" lvl="0" indent="-323850" algn="l" rtl="0">
              <a:spcBef>
                <a:spcPts val="1600"/>
              </a:spcBef>
              <a:spcAft>
                <a:spcPts val="0"/>
              </a:spcAft>
              <a:buSzPts val="1500"/>
              <a:buChar char="●"/>
            </a:pPr>
            <a:r>
              <a:rPr lang="es" sz="1500"/>
              <a:t>Se centra en relaciones directas y estacionales como canales de contacto más que en los balances financieros, reflejando la naturaleza lineal del modelo.</a:t>
            </a:r>
            <a:endParaRPr sz="1500"/>
          </a:p>
        </p:txBody>
      </p:sp>
      <p:pic>
        <p:nvPicPr>
          <p:cNvPr id="219" name="Google Shape;219;p35"/>
          <p:cNvPicPr preferRelativeResize="0"/>
          <p:nvPr/>
        </p:nvPicPr>
        <p:blipFill>
          <a:blip r:embed="rId3">
            <a:alphaModFix/>
          </a:blip>
          <a:stretch>
            <a:fillRect/>
          </a:stretch>
        </p:blipFill>
        <p:spPr>
          <a:xfrm>
            <a:off x="5600425" y="694413"/>
            <a:ext cx="3319924" cy="2127858"/>
          </a:xfrm>
          <a:prstGeom prst="rect">
            <a:avLst/>
          </a:prstGeom>
          <a:noFill/>
          <a:ln>
            <a:noFill/>
          </a:ln>
        </p:spPr>
      </p:pic>
      <p:pic>
        <p:nvPicPr>
          <p:cNvPr id="220" name="Google Shape;220;p35"/>
          <p:cNvPicPr preferRelativeResize="0"/>
          <p:nvPr/>
        </p:nvPicPr>
        <p:blipFill rotWithShape="1">
          <a:blip r:embed="rId4">
            <a:alphaModFix/>
          </a:blip>
          <a:srcRect/>
          <a:stretch/>
        </p:blipFill>
        <p:spPr>
          <a:xfrm>
            <a:off x="5600424" y="2954775"/>
            <a:ext cx="3319925" cy="2066800"/>
          </a:xfrm>
          <a:prstGeom prst="rect">
            <a:avLst/>
          </a:prstGeom>
          <a:noFill/>
          <a:ln>
            <a:noFill/>
          </a:ln>
        </p:spPr>
      </p:pic>
      <p:pic>
        <p:nvPicPr>
          <p:cNvPr id="221" name="Google Shape;221;p35"/>
          <p:cNvPicPr preferRelativeResize="0"/>
          <p:nvPr/>
        </p:nvPicPr>
        <p:blipFill>
          <a:blip r:embed="rId5">
            <a:alphaModFix/>
          </a:blip>
          <a:stretch>
            <a:fillRect/>
          </a:stretch>
        </p:blipFill>
        <p:spPr>
          <a:xfrm>
            <a:off x="5076875" y="694425"/>
            <a:ext cx="3843475" cy="4327150"/>
          </a:xfrm>
          <a:prstGeom prst="rect">
            <a:avLst/>
          </a:prstGeom>
          <a:noFill/>
          <a:ln>
            <a:noFill/>
          </a:ln>
        </p:spPr>
      </p:pic>
      <p:pic>
        <p:nvPicPr>
          <p:cNvPr id="222" name="Google Shape;222;p35"/>
          <p:cNvPicPr preferRelativeResize="0"/>
          <p:nvPr/>
        </p:nvPicPr>
        <p:blipFill>
          <a:blip r:embed="rId6">
            <a:alphaModFix/>
          </a:blip>
          <a:stretch>
            <a:fillRect/>
          </a:stretch>
        </p:blipFill>
        <p:spPr>
          <a:xfrm>
            <a:off x="4906338" y="2611675"/>
            <a:ext cx="4184549" cy="2457375"/>
          </a:xfrm>
          <a:prstGeom prst="rect">
            <a:avLst/>
          </a:prstGeom>
          <a:noFill/>
          <a:ln>
            <a:noFill/>
          </a:ln>
        </p:spPr>
      </p:pic>
      <p:pic>
        <p:nvPicPr>
          <p:cNvPr id="223" name="Google Shape;223;p35"/>
          <p:cNvPicPr preferRelativeResize="0"/>
          <p:nvPr/>
        </p:nvPicPr>
        <p:blipFill>
          <a:blip r:embed="rId7">
            <a:alphaModFix/>
          </a:blip>
          <a:stretch>
            <a:fillRect/>
          </a:stretch>
        </p:blipFill>
        <p:spPr>
          <a:xfrm>
            <a:off x="4906350" y="248850"/>
            <a:ext cx="4184525" cy="2362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6"/>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4500"/>
              <a:t>Evaluación global e interpretación</a:t>
            </a:r>
            <a:endParaRPr sz="45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7"/>
          <p:cNvSpPr txBox="1">
            <a:spLocks noGrp="1"/>
          </p:cNvSpPr>
          <p:nvPr>
            <p:ph type="title" idx="4294967295"/>
          </p:nvPr>
        </p:nvSpPr>
        <p:spPr>
          <a:xfrm>
            <a:off x="311700" y="445025"/>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Comparación: No supervisado vs Supervisado</a:t>
            </a:r>
            <a:endParaRPr/>
          </a:p>
        </p:txBody>
      </p:sp>
      <p:sp>
        <p:nvSpPr>
          <p:cNvPr id="234" name="Google Shape;234;p37"/>
          <p:cNvSpPr txBox="1">
            <a:spLocks noGrp="1"/>
          </p:cNvSpPr>
          <p:nvPr>
            <p:ph type="body" idx="4294967295"/>
          </p:nvPr>
        </p:nvSpPr>
        <p:spPr>
          <a:xfrm>
            <a:off x="311700" y="1103489"/>
            <a:ext cx="8272500" cy="375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El método no supervisado K-Means agrupó los clientes en dos clusters, alineándose parcialmente con la estructura binaria de la variable objetivo y. Sin embargo:</a:t>
            </a:r>
            <a:endParaRPr sz="1600"/>
          </a:p>
          <a:p>
            <a:pPr marL="457200" lvl="0" indent="-330200" algn="l" rtl="0">
              <a:spcBef>
                <a:spcPts val="1600"/>
              </a:spcBef>
              <a:spcAft>
                <a:spcPts val="0"/>
              </a:spcAft>
              <a:buSzPts val="1600"/>
              <a:buChar char="●"/>
            </a:pPr>
            <a:r>
              <a:rPr lang="es" sz="1600"/>
              <a:t>Los clusters mostraron superposición importante</a:t>
            </a:r>
            <a:endParaRPr sz="1600"/>
          </a:p>
          <a:p>
            <a:pPr marL="457200" lvl="0" indent="-330200" algn="l" rtl="0">
              <a:spcBef>
                <a:spcPts val="0"/>
              </a:spcBef>
              <a:spcAft>
                <a:spcPts val="0"/>
              </a:spcAft>
              <a:buSzPts val="1600"/>
              <a:buChar char="●"/>
            </a:pPr>
            <a:r>
              <a:rPr lang="es" sz="1600"/>
              <a:t>La relación con la clase real fue moderada</a:t>
            </a:r>
            <a:endParaRPr sz="1600"/>
          </a:p>
          <a:p>
            <a:pPr marL="457200" lvl="0" indent="-330200" algn="l" rtl="0">
              <a:spcBef>
                <a:spcPts val="0"/>
              </a:spcBef>
              <a:spcAft>
                <a:spcPts val="0"/>
              </a:spcAft>
              <a:buSzPts val="1600"/>
              <a:buChar char="●"/>
            </a:pPr>
            <a:r>
              <a:rPr lang="es" sz="1600"/>
              <a:t>Las visualizaciones con PCA y t-SNE evidenciaron que la estructura de los datos no permite una separación clara sin supervisión En contraste:</a:t>
            </a:r>
            <a:endParaRPr sz="1600"/>
          </a:p>
          <a:p>
            <a:pPr marL="457200" lvl="0" indent="-330200" algn="l" rtl="0">
              <a:spcBef>
                <a:spcPts val="0"/>
              </a:spcBef>
              <a:spcAft>
                <a:spcPts val="0"/>
              </a:spcAft>
              <a:buSzPts val="1600"/>
              <a:buChar char="●"/>
            </a:pPr>
            <a:r>
              <a:rPr lang="es" sz="1600"/>
              <a:t>Los modelos supervisados (Regresión Logística y Random Forest) lograron métricas superiores, especialmente en la detección de la clase minoritaria (“yes”), gracias al uso de información etiquetada.</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title" idx="4294967295"/>
          </p:nvPr>
        </p:nvSpPr>
        <p:spPr>
          <a:xfrm>
            <a:off x="311700" y="249082"/>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Propuesta de mejoras metodológicas</a:t>
            </a:r>
            <a:endParaRPr/>
          </a:p>
        </p:txBody>
      </p:sp>
      <p:sp>
        <p:nvSpPr>
          <p:cNvPr id="240" name="Google Shape;240;p38"/>
          <p:cNvSpPr txBox="1">
            <a:spLocks noGrp="1"/>
          </p:cNvSpPr>
          <p:nvPr>
            <p:ph type="body" idx="4294967295"/>
          </p:nvPr>
        </p:nvSpPr>
        <p:spPr>
          <a:xfrm>
            <a:off x="311700" y="936950"/>
            <a:ext cx="8703600" cy="411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500"/>
              <a:t>Dado el desbalance marcado de clases:</a:t>
            </a:r>
            <a:endParaRPr sz="1500"/>
          </a:p>
          <a:p>
            <a:pPr marL="457200" lvl="0" indent="-323850" algn="l" rtl="0">
              <a:spcBef>
                <a:spcPts val="1600"/>
              </a:spcBef>
              <a:spcAft>
                <a:spcPts val="0"/>
              </a:spcAft>
              <a:buSzPts val="1500"/>
              <a:buChar char="●"/>
            </a:pPr>
            <a:r>
              <a:rPr lang="es" sz="1500"/>
              <a:t>Clase Porcentaje aproximado</a:t>
            </a:r>
            <a:endParaRPr sz="1500"/>
          </a:p>
          <a:p>
            <a:pPr marL="457200" lvl="0" indent="-323850" algn="l" rtl="0">
              <a:spcBef>
                <a:spcPts val="0"/>
              </a:spcBef>
              <a:spcAft>
                <a:spcPts val="0"/>
              </a:spcAft>
              <a:buSzPts val="1500"/>
              <a:buChar char="●"/>
            </a:pPr>
            <a:r>
              <a:rPr lang="es" sz="1500"/>
              <a:t>no ~88%			yes ~12%</a:t>
            </a:r>
            <a:endParaRPr sz="1500"/>
          </a:p>
          <a:p>
            <a:pPr marL="0" lvl="0" indent="0" algn="l" rtl="0">
              <a:spcBef>
                <a:spcPts val="1600"/>
              </a:spcBef>
              <a:spcAft>
                <a:spcPts val="0"/>
              </a:spcAft>
              <a:buNone/>
            </a:pPr>
            <a:r>
              <a:rPr lang="es" sz="1500"/>
              <a:t>Esto afecta recall y F1 de la clase positiva. Para optimizar el desempeño del modelo se aplican las siguientes mejoras sugeridas:</a:t>
            </a:r>
            <a:endParaRPr sz="1500"/>
          </a:p>
          <a:p>
            <a:pPr marL="457200" lvl="0" indent="-323850" algn="l" rtl="0">
              <a:spcBef>
                <a:spcPts val="1600"/>
              </a:spcBef>
              <a:spcAft>
                <a:spcPts val="0"/>
              </a:spcAft>
              <a:buSzPts val="1500"/>
              <a:buChar char="●"/>
            </a:pPr>
            <a:r>
              <a:rPr lang="es" sz="1500"/>
              <a:t>Mejora Objetivo Justificación Balanceo de clases con SMOTE Mejorar recall de “yes” Evita que el modelo se sesgue hacia la clase mayoritaria</a:t>
            </a:r>
            <a:endParaRPr sz="1500"/>
          </a:p>
          <a:p>
            <a:pPr marL="457200" lvl="0" indent="-323850" algn="l" rtl="0">
              <a:spcBef>
                <a:spcPts val="0"/>
              </a:spcBef>
              <a:spcAft>
                <a:spcPts val="0"/>
              </a:spcAft>
              <a:buSzPts val="1500"/>
              <a:buChar char="●"/>
            </a:pPr>
            <a:r>
              <a:rPr lang="es" sz="1500"/>
              <a:t>Grid Search en Random Forest Optimización de hiperparámetros Mejorar capacidad de generalización        														Feature Engineering Estructurar mejor la información Variables derivadas como ratios financieros o segmentación temporal</a:t>
            </a:r>
            <a:endParaRPr sz="1500"/>
          </a:p>
          <a:p>
            <a:pPr marL="457200" lvl="0" indent="-323850" algn="l" rtl="0">
              <a:spcBef>
                <a:spcPts val="0"/>
              </a:spcBef>
              <a:spcAft>
                <a:spcPts val="0"/>
              </a:spcAft>
              <a:buSzPts val="1500"/>
              <a:buChar char="●"/>
            </a:pPr>
            <a:r>
              <a:rPr lang="es" sz="1500"/>
              <a:t>ROC-AUC como métrica adicional Measure real discrimination power Accuracy es engañosa en clases desbalanceadas</a:t>
            </a:r>
            <a:endParaRPr sz="15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9"/>
          <p:cNvSpPr txBox="1">
            <a:spLocks noGrp="1"/>
          </p:cNvSpPr>
          <p:nvPr>
            <p:ph type="title" idx="4294967295"/>
          </p:nvPr>
        </p:nvSpPr>
        <p:spPr>
          <a:xfrm>
            <a:off x="311700" y="445025"/>
            <a:ext cx="748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Discusión crítica final</a:t>
            </a:r>
            <a:endParaRPr/>
          </a:p>
        </p:txBody>
      </p:sp>
      <p:sp>
        <p:nvSpPr>
          <p:cNvPr id="246" name="Google Shape;246;p39"/>
          <p:cNvSpPr txBox="1">
            <a:spLocks noGrp="1"/>
          </p:cNvSpPr>
          <p:nvPr>
            <p:ph type="body" idx="4294967295"/>
          </p:nvPr>
        </p:nvSpPr>
        <p:spPr>
          <a:xfrm>
            <a:off x="311700" y="1103500"/>
            <a:ext cx="8713500" cy="375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500"/>
              <a:t>El análisis permitió comprender que la decisión de un cliente respecto a un depósito a plazo no depende únicamente de factores financieros, sino también de variables relacionadas con la interacción del banco y la efectividad de la campaña.</a:t>
            </a:r>
            <a:endParaRPr sz="1500"/>
          </a:p>
          <a:p>
            <a:pPr marL="0" lvl="0" indent="0" algn="l" rtl="0">
              <a:spcBef>
                <a:spcPts val="1600"/>
              </a:spcBef>
              <a:spcAft>
                <a:spcPts val="0"/>
              </a:spcAft>
              <a:buNone/>
            </a:pPr>
            <a:r>
              <a:rPr lang="es" sz="1500"/>
              <a:t>Los algoritmos supervisados, especialmente Random Forest, demostraron una mejor capacidad predictiva, lo que sugiere que existen relaciones no lineales y dependencias complejas entre las variables. Aunque los modelos presentan un rendimiento adecuado, persisten limitaciones como:</a:t>
            </a:r>
            <a:endParaRPr sz="1500"/>
          </a:p>
          <a:p>
            <a:pPr marL="457200" lvl="0" indent="-323850" algn="l" rtl="0">
              <a:spcBef>
                <a:spcPts val="1600"/>
              </a:spcBef>
              <a:spcAft>
                <a:spcPts val="0"/>
              </a:spcAft>
              <a:buSzPts val="1500"/>
              <a:buChar char="●"/>
            </a:pPr>
            <a:r>
              <a:rPr lang="es" sz="1500"/>
              <a:t>fuerte desbalance de clases</a:t>
            </a:r>
            <a:endParaRPr sz="1500"/>
          </a:p>
          <a:p>
            <a:pPr marL="457200" lvl="0" indent="-323850" algn="l" rtl="0">
              <a:spcBef>
                <a:spcPts val="0"/>
              </a:spcBef>
              <a:spcAft>
                <a:spcPts val="0"/>
              </a:spcAft>
              <a:buSzPts val="1500"/>
              <a:buChar char="●"/>
            </a:pPr>
            <a:r>
              <a:rPr lang="es" sz="1500"/>
              <a:t>baja correlación lineal entre la mayoría de las variables y la clase objetivo</a:t>
            </a:r>
            <a:endParaRPr sz="1500"/>
          </a:p>
          <a:p>
            <a:pPr marL="457200" lvl="0" indent="-323850" algn="l" rtl="0">
              <a:spcBef>
                <a:spcPts val="0"/>
              </a:spcBef>
              <a:spcAft>
                <a:spcPts val="0"/>
              </a:spcAft>
              <a:buSzPts val="1500"/>
              <a:buChar char="●"/>
            </a:pPr>
            <a:r>
              <a:rPr lang="es" sz="1500"/>
              <a:t>dependencia de variables relacionadas con la duración de la llamada</a:t>
            </a:r>
            <a:endParaRPr sz="1500"/>
          </a:p>
          <a:p>
            <a:pPr marL="0" lvl="0" indent="0" algn="l" rtl="0">
              <a:spcBef>
                <a:spcPts val="1600"/>
              </a:spcBef>
              <a:spcAft>
                <a:spcPts val="1600"/>
              </a:spcAft>
              <a:buNone/>
            </a:pPr>
            <a:r>
              <a:rPr lang="es" sz="1500"/>
              <a:t>(información posterior al éxito) En campañas reales, estos modelos pueden optimizar costos operativos al identificar prospectos con mayor probabilidad de conversión, permitiendo a la entidad bancaria dirigir esfuerzos de manera más inteligente.</a:t>
            </a:r>
            <a:endParaRPr sz="15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0"/>
          <p:cNvSpPr txBox="1">
            <a:spLocks noGrp="1"/>
          </p:cNvSpPr>
          <p:nvPr>
            <p:ph type="title" idx="4294967295"/>
          </p:nvPr>
        </p:nvSpPr>
        <p:spPr>
          <a:xfrm>
            <a:off x="311700" y="190300"/>
            <a:ext cx="871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Implementación en lenguaje C de un algoritmo de aprendizaje supervisado</a:t>
            </a:r>
            <a:endParaRPr/>
          </a:p>
        </p:txBody>
      </p:sp>
      <p:sp>
        <p:nvSpPr>
          <p:cNvPr id="252" name="Google Shape;252;p40"/>
          <p:cNvSpPr txBox="1">
            <a:spLocks noGrp="1"/>
          </p:cNvSpPr>
          <p:nvPr>
            <p:ph type="body" idx="4294967295"/>
          </p:nvPr>
        </p:nvSpPr>
        <p:spPr>
          <a:xfrm>
            <a:off x="311700" y="1162275"/>
            <a:ext cx="8713500" cy="3750000"/>
          </a:xfrm>
          <a:prstGeom prst="rect">
            <a:avLst/>
          </a:prstGeom>
        </p:spPr>
        <p:txBody>
          <a:bodyPr spcFirstLastPara="1" wrap="square" lIns="91425" tIns="91425" rIns="91425" bIns="91425" anchor="t" anchorCtr="0">
            <a:noAutofit/>
          </a:bodyPr>
          <a:lstStyle/>
          <a:p>
            <a:pPr marL="0" lvl="0" indent="0" algn="l" rtl="0">
              <a:spcBef>
                <a:spcPts val="700"/>
              </a:spcBef>
              <a:spcAft>
                <a:spcPts val="0"/>
              </a:spcAft>
              <a:buNone/>
            </a:pPr>
            <a:r>
              <a:rPr lang="es" sz="1500">
                <a:solidFill>
                  <a:srgbClr val="E3E3E3"/>
                </a:solidFill>
              </a:rPr>
              <a:t>Selección y justificación del algoritmo:</a:t>
            </a:r>
            <a:endParaRPr sz="1500">
              <a:solidFill>
                <a:srgbClr val="E3E3E3"/>
              </a:solidFill>
            </a:endParaRPr>
          </a:p>
          <a:p>
            <a:pPr marL="0" lvl="0" indent="0" algn="l" rtl="0">
              <a:spcBef>
                <a:spcPts val="700"/>
              </a:spcBef>
              <a:spcAft>
                <a:spcPts val="0"/>
              </a:spcAft>
              <a:buNone/>
            </a:pPr>
            <a:r>
              <a:rPr lang="es" sz="1500">
                <a:solidFill>
                  <a:srgbClr val="E3E3E3"/>
                </a:solidFill>
              </a:rPr>
              <a:t>Este problema es de clasificación binaria. Los modelos más usados son Regresión logística, Árboles de decisión y Random forest. Se eligió Regresión logística por lo siguiente:</a:t>
            </a:r>
            <a:endParaRPr sz="1500">
              <a:solidFill>
                <a:srgbClr val="E3E3E3"/>
              </a:solidFill>
            </a:endParaRPr>
          </a:p>
          <a:p>
            <a:pPr marL="457200" lvl="0" indent="-323850" algn="l" rtl="0">
              <a:spcBef>
                <a:spcPts val="600"/>
              </a:spcBef>
              <a:spcAft>
                <a:spcPts val="0"/>
              </a:spcAft>
              <a:buClr>
                <a:srgbClr val="E3E3E3"/>
              </a:buClr>
              <a:buSzPts val="1500"/>
              <a:buFont typeface="Average"/>
              <a:buChar char="●"/>
            </a:pPr>
            <a:r>
              <a:rPr lang="es" sz="1500">
                <a:solidFill>
                  <a:srgbClr val="E3E3E3"/>
                </a:solidFill>
              </a:rPr>
              <a:t>La variable objetivo es binaria. La regresión logística es el modelo estadístico estándar para problemas de este tipo.</a:t>
            </a:r>
            <a:endParaRPr sz="1500">
              <a:solidFill>
                <a:srgbClr val="E3E3E3"/>
              </a:solidFill>
            </a:endParaRPr>
          </a:p>
          <a:p>
            <a:pPr marL="457200" lvl="0" indent="-323850" algn="l" rtl="0">
              <a:spcBef>
                <a:spcPts val="0"/>
              </a:spcBef>
              <a:spcAft>
                <a:spcPts val="0"/>
              </a:spcAft>
              <a:buClr>
                <a:srgbClr val="E3E3E3"/>
              </a:buClr>
              <a:buSzPts val="1500"/>
              <a:buFont typeface="Average"/>
              <a:buChar char="●"/>
            </a:pPr>
            <a:r>
              <a:rPr lang="es" sz="1500">
                <a:solidFill>
                  <a:srgbClr val="E3E3E3"/>
                </a:solidFill>
              </a:rPr>
              <a:t>El dataset contiene muchas variables categóricas y funcionan muy bien cuando se transforman con one-hot encoding. La regresión logística aprovecha bien relaciones lineales entre estas variables y la probabilidad de conversión.</a:t>
            </a:r>
            <a:endParaRPr sz="1500">
              <a:solidFill>
                <a:srgbClr val="E3E3E3"/>
              </a:solidFill>
            </a:endParaRPr>
          </a:p>
          <a:p>
            <a:pPr marL="457200" lvl="0" indent="-323850" algn="l" rtl="0">
              <a:spcBef>
                <a:spcPts val="0"/>
              </a:spcBef>
              <a:spcAft>
                <a:spcPts val="0"/>
              </a:spcAft>
              <a:buClr>
                <a:srgbClr val="E3E3E3"/>
              </a:buClr>
              <a:buSzPts val="1500"/>
              <a:buFont typeface="Average"/>
              <a:buChar char="●"/>
            </a:pPr>
            <a:r>
              <a:rPr lang="es" sz="1500">
                <a:solidFill>
                  <a:srgbClr val="E3E3E3"/>
                </a:solidFill>
              </a:rPr>
              <a:t>En marketing directo, la Regresión logística es un baseline probado.</a:t>
            </a:r>
            <a:endParaRPr sz="1500">
              <a:solidFill>
                <a:srgbClr val="E3E3E3"/>
              </a:solidFill>
            </a:endParaRPr>
          </a:p>
          <a:p>
            <a:pPr marL="457200" lvl="0" indent="-323850" algn="l" rtl="0">
              <a:spcBef>
                <a:spcPts val="0"/>
              </a:spcBef>
              <a:spcAft>
                <a:spcPts val="0"/>
              </a:spcAft>
              <a:buClr>
                <a:srgbClr val="E3E3E3"/>
              </a:buClr>
              <a:buSzPts val="1500"/>
              <a:buFont typeface="Average"/>
              <a:buChar char="●"/>
            </a:pPr>
            <a:r>
              <a:rPr lang="es" sz="1500">
                <a:solidFill>
                  <a:srgbClr val="E3E3E3"/>
                </a:solidFill>
              </a:rPr>
              <a:t>Por último, es muy fácil de implementar en C para propósitos académicos como los de este trabajo. Solo se requiere una función sigmoide, cálculo de gradiente y actualización de pesos.</a:t>
            </a:r>
            <a:endParaRPr sz="1500">
              <a:solidFill>
                <a:srgbClr val="E3E3E3"/>
              </a:solidFill>
            </a:endParaRPr>
          </a:p>
          <a:p>
            <a:pPr marL="0" lvl="0" indent="0" algn="l" rtl="0">
              <a:spcBef>
                <a:spcPts val="600"/>
              </a:spcBef>
              <a:spcAft>
                <a:spcPts val="1600"/>
              </a:spcAft>
              <a:buNone/>
            </a:pPr>
            <a:endParaRPr sz="15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1"/>
          <p:cNvSpPr txBox="1">
            <a:spLocks noGrp="1"/>
          </p:cNvSpPr>
          <p:nvPr>
            <p:ph type="title" idx="4294967295"/>
          </p:nvPr>
        </p:nvSpPr>
        <p:spPr>
          <a:xfrm>
            <a:off x="311700" y="190300"/>
            <a:ext cx="871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Diseño de programa en C</a:t>
            </a:r>
            <a:endParaRPr/>
          </a:p>
        </p:txBody>
      </p:sp>
      <p:sp>
        <p:nvSpPr>
          <p:cNvPr id="258" name="Google Shape;258;p41"/>
          <p:cNvSpPr txBox="1">
            <a:spLocks noGrp="1"/>
          </p:cNvSpPr>
          <p:nvPr>
            <p:ph type="body" idx="4294967295"/>
          </p:nvPr>
        </p:nvSpPr>
        <p:spPr>
          <a:xfrm>
            <a:off x="311700" y="1162275"/>
            <a:ext cx="8713500" cy="3750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s" sz="1500">
                <a:solidFill>
                  <a:srgbClr val="E3E3E3"/>
                </a:solidFill>
              </a:rPr>
              <a:t>Este programa dependerá del preprocesamiento del dataset original en python que se desarrolló al principio de este notebook. Como recordatorio, los pasos realizados fueron los siguientes:</a:t>
            </a:r>
            <a:endParaRPr sz="1500">
              <a:solidFill>
                <a:srgbClr val="E3E3E3"/>
              </a:solidFill>
            </a:endParaRPr>
          </a:p>
          <a:p>
            <a:pPr marL="457200" lvl="0" indent="-323850" algn="l" rtl="0">
              <a:spcBef>
                <a:spcPts val="600"/>
              </a:spcBef>
              <a:spcAft>
                <a:spcPts val="0"/>
              </a:spcAft>
              <a:buClr>
                <a:srgbClr val="E3E3E3"/>
              </a:buClr>
              <a:buSzPts val="1500"/>
              <a:buFont typeface="Average"/>
              <a:buAutoNum type="arabicPeriod"/>
            </a:pPr>
            <a:r>
              <a:rPr lang="es" sz="1500">
                <a:solidFill>
                  <a:srgbClr val="E3E3E3"/>
                </a:solidFill>
              </a:rPr>
              <a:t>Reemplazar 'unknown' por una categoría nueva "No_Registrado"</a:t>
            </a:r>
            <a:endParaRPr sz="1500">
              <a:solidFill>
                <a:srgbClr val="E3E3E3"/>
              </a:solidFill>
            </a:endParaRPr>
          </a:p>
          <a:p>
            <a:pPr marL="457200" lvl="0" indent="-323850" algn="l" rtl="0">
              <a:spcBef>
                <a:spcPts val="0"/>
              </a:spcBef>
              <a:spcAft>
                <a:spcPts val="0"/>
              </a:spcAft>
              <a:buClr>
                <a:srgbClr val="E3E3E3"/>
              </a:buClr>
              <a:buSzPts val="1500"/>
              <a:buFont typeface="Average"/>
              <a:buAutoNum type="arabicPeriod"/>
            </a:pPr>
            <a:r>
              <a:rPr lang="es" sz="1500">
                <a:solidFill>
                  <a:srgbClr val="E3E3E3"/>
                </a:solidFill>
              </a:rPr>
              <a:t>Eliminar la variable duration</a:t>
            </a:r>
            <a:endParaRPr sz="1500">
              <a:solidFill>
                <a:srgbClr val="E3E3E3"/>
              </a:solidFill>
            </a:endParaRPr>
          </a:p>
          <a:p>
            <a:pPr marL="457200" lvl="0" indent="-323850" algn="l" rtl="0">
              <a:spcBef>
                <a:spcPts val="0"/>
              </a:spcBef>
              <a:spcAft>
                <a:spcPts val="0"/>
              </a:spcAft>
              <a:buClr>
                <a:srgbClr val="E3E3E3"/>
              </a:buClr>
              <a:buSzPts val="1500"/>
              <a:buFont typeface="Average"/>
              <a:buAutoNum type="arabicPeriod"/>
            </a:pPr>
            <a:r>
              <a:rPr lang="es" sz="1500">
                <a:solidFill>
                  <a:srgbClr val="E3E3E3"/>
                </a:solidFill>
              </a:rPr>
              <a:t>Convertir variables binarias tipo 'yes'/'no' a 0/1. default, housing, loan, y la objetivo </a:t>
            </a:r>
            <a:r>
              <a:rPr lang="es" sz="1500" i="1">
                <a:solidFill>
                  <a:srgbClr val="E3E3E3"/>
                </a:solidFill>
              </a:rPr>
              <a:t>y</a:t>
            </a:r>
            <a:r>
              <a:rPr lang="es" sz="1500">
                <a:solidFill>
                  <a:srgbClr val="E3E3E3"/>
                </a:solidFill>
              </a:rPr>
              <a:t>.</a:t>
            </a:r>
            <a:endParaRPr sz="1500">
              <a:solidFill>
                <a:srgbClr val="E3E3E3"/>
              </a:solidFill>
            </a:endParaRPr>
          </a:p>
          <a:p>
            <a:pPr marL="457200" lvl="0" indent="-323850" algn="l" rtl="0">
              <a:spcBef>
                <a:spcPts val="0"/>
              </a:spcBef>
              <a:spcAft>
                <a:spcPts val="0"/>
              </a:spcAft>
              <a:buClr>
                <a:srgbClr val="E3E3E3"/>
              </a:buClr>
              <a:buSzPts val="1500"/>
              <a:buFont typeface="Average"/>
              <a:buAutoNum type="arabicPeriod"/>
            </a:pPr>
            <a:r>
              <a:rPr lang="es" sz="1500">
                <a:solidFill>
                  <a:srgbClr val="E3E3E3"/>
                </a:solidFill>
              </a:rPr>
              <a:t>Realizar One-hot encoding para las variables categóricas</a:t>
            </a:r>
            <a:endParaRPr sz="1500">
              <a:solidFill>
                <a:srgbClr val="E3E3E3"/>
              </a:solidFill>
            </a:endParaRPr>
          </a:p>
          <a:p>
            <a:pPr marL="457200" lvl="0" indent="-323850" algn="l" rtl="0">
              <a:spcBef>
                <a:spcPts val="0"/>
              </a:spcBef>
              <a:spcAft>
                <a:spcPts val="0"/>
              </a:spcAft>
              <a:buClr>
                <a:srgbClr val="E3E3E3"/>
              </a:buClr>
              <a:buSzPts val="1500"/>
              <a:buFont typeface="Average"/>
              <a:buAutoNum type="arabicPeriod"/>
            </a:pPr>
            <a:r>
              <a:rPr lang="es" sz="1500">
                <a:solidFill>
                  <a:srgbClr val="E3E3E3"/>
                </a:solidFill>
              </a:rPr>
              <a:t>Matriz final X y vector y (% yes/no)</a:t>
            </a:r>
            <a:endParaRPr sz="1500">
              <a:solidFill>
                <a:srgbClr val="E3E3E3"/>
              </a:solidFill>
            </a:endParaRPr>
          </a:p>
          <a:p>
            <a:pPr marL="0" lvl="0" indent="0" algn="l" rtl="0">
              <a:spcBef>
                <a:spcPts val="600"/>
              </a:spcBef>
              <a:spcAft>
                <a:spcPts val="0"/>
              </a:spcAft>
              <a:buNone/>
            </a:pPr>
            <a:endParaRPr sz="1500">
              <a:solidFill>
                <a:srgbClr val="E3E3E3"/>
              </a:solidFill>
            </a:endParaRPr>
          </a:p>
          <a:p>
            <a:pPr marL="0" lvl="0" indent="0" algn="l" rtl="0">
              <a:spcBef>
                <a:spcPts val="600"/>
              </a:spcBef>
              <a:spcAft>
                <a:spcPts val="1600"/>
              </a:spcAft>
              <a:buNone/>
            </a:pPr>
            <a:endParaRPr sz="1500"/>
          </a:p>
        </p:txBody>
      </p:sp>
      <p:pic>
        <p:nvPicPr>
          <p:cNvPr id="259" name="Google Shape;259;p41"/>
          <p:cNvPicPr preferRelativeResize="0"/>
          <p:nvPr/>
        </p:nvPicPr>
        <p:blipFill>
          <a:blip r:embed="rId3">
            <a:alphaModFix/>
          </a:blip>
          <a:stretch>
            <a:fillRect/>
          </a:stretch>
        </p:blipFill>
        <p:spPr>
          <a:xfrm>
            <a:off x="738175" y="3667675"/>
            <a:ext cx="7667625" cy="590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2"/>
          <p:cNvSpPr txBox="1">
            <a:spLocks noGrp="1"/>
          </p:cNvSpPr>
          <p:nvPr>
            <p:ph type="title" idx="4294967295"/>
          </p:nvPr>
        </p:nvSpPr>
        <p:spPr>
          <a:xfrm>
            <a:off x="311700" y="190300"/>
            <a:ext cx="871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Comparativa C y Python</a:t>
            </a:r>
            <a:endParaRPr/>
          </a:p>
        </p:txBody>
      </p:sp>
      <p:sp>
        <p:nvSpPr>
          <p:cNvPr id="265" name="Google Shape;265;p42"/>
          <p:cNvSpPr txBox="1">
            <a:spLocks noGrp="1"/>
          </p:cNvSpPr>
          <p:nvPr>
            <p:ph type="body" idx="4294967295"/>
          </p:nvPr>
        </p:nvSpPr>
        <p:spPr>
          <a:xfrm>
            <a:off x="311700" y="1162275"/>
            <a:ext cx="8713500" cy="3750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s" sz="1700">
                <a:solidFill>
                  <a:srgbClr val="E3E3E3"/>
                </a:solidFill>
              </a:rPr>
              <a:t>El algoritmo en C fue menos preciso que las contrapartes en Python. Además, fue significativamente más complicado de hacer. La alternativa de python parece mejor.</a:t>
            </a:r>
            <a:endParaRPr sz="2000">
              <a:solidFill>
                <a:srgbClr val="E3E3E3"/>
              </a:solidFill>
            </a:endParaRPr>
          </a:p>
          <a:p>
            <a:pPr marL="0" lvl="0" indent="0" algn="l" rtl="0">
              <a:spcBef>
                <a:spcPts val="600"/>
              </a:spcBef>
              <a:spcAft>
                <a:spcPts val="1600"/>
              </a:spcAft>
              <a:buNone/>
            </a:pPr>
            <a:endParaRPr sz="15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3"/>
          <p:cNvSpPr txBox="1"/>
          <p:nvPr/>
        </p:nvSpPr>
        <p:spPr>
          <a:xfrm>
            <a:off x="1845750" y="2199900"/>
            <a:ext cx="5452500" cy="7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700" b="1">
                <a:solidFill>
                  <a:schemeClr val="dk1"/>
                </a:solidFill>
                <a:latin typeface="Oswald"/>
                <a:ea typeface="Oswald"/>
                <a:cs typeface="Oswald"/>
                <a:sym typeface="Oswald"/>
              </a:rPr>
              <a:t>GRACIAS POR LA ATENCIÓN</a:t>
            </a:r>
            <a:endParaRPr sz="3700" b="1">
              <a:solidFill>
                <a:schemeClr val="dk1"/>
              </a:solidFill>
              <a:latin typeface="Oswald"/>
              <a:ea typeface="Oswald"/>
              <a:cs typeface="Oswald"/>
              <a:sym typeface="Oswald"/>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Presentación en pantalla (16:9)</PresentationFormat>
  <Slides>31</Slides>
  <Notes>31</Notes>
  <HiddenSlides>0</HiddenSlides>
  <ScaleCrop>false</ScaleCrop>
  <HeadingPairs>
    <vt:vector size="4" baseType="variant">
      <vt:variant>
        <vt:lpstr>Tema</vt:lpstr>
      </vt:variant>
      <vt:variant>
        <vt:i4>1</vt:i4>
      </vt:variant>
      <vt:variant>
        <vt:lpstr>Títulos de diapositiva</vt:lpstr>
      </vt:variant>
      <vt:variant>
        <vt:i4>31</vt:i4>
      </vt:variant>
    </vt:vector>
  </HeadingPairs>
  <TitlesOfParts>
    <vt:vector size="32" baseType="lpstr">
      <vt:lpstr>Slate</vt:lpstr>
      <vt:lpstr>Proyecto Final IA-Grupo 4</vt:lpstr>
      <vt:lpstr>Descripción del dataset</vt:lpstr>
      <vt:lpstr>Variables Principales</vt:lpstr>
      <vt:lpstr>Hipótesis de predicción: Nuestro objetivo es predecir si un cliente aceptará suscribir un depósito a largo plazo después de ser contactado por la campaña telefónica del banco. Esto es importante porque permite a el/los banco(s) identificar qué clientes tienen una mayor probabilidad de aceptar la oferta, optimizando así sus recursos de marketing, reduciendo costos operativos y aumentando la efectividad de las campañas.</vt:lpstr>
      <vt:lpstr>EDA</vt:lpstr>
      <vt:lpstr>Distribución</vt:lpstr>
      <vt:lpstr>Presentación de PowerPoint</vt:lpstr>
      <vt:lpstr>PREPROCESAMIENTO</vt:lpstr>
      <vt:lpstr>Análisis</vt:lpstr>
      <vt:lpstr>Gráfica: Varianza explicada por componente</vt:lpstr>
      <vt:lpstr>Aprendizaje no supervisado</vt:lpstr>
      <vt:lpstr>Clustering con K-Means</vt:lpstr>
      <vt:lpstr>Presentación de PowerPoint</vt:lpstr>
      <vt:lpstr>Presentación de PowerPoint</vt:lpstr>
      <vt:lpstr>Presentación de PowerPoint</vt:lpstr>
      <vt:lpstr>t-SNE</vt:lpstr>
      <vt:lpstr>Aprendizaje supervisado (REGRESION LOGISTICA Y RANDOM FOREST)</vt:lpstr>
      <vt:lpstr>Comparación de métricas</vt:lpstr>
      <vt:lpstr>Presentación de PowerPoint</vt:lpstr>
      <vt:lpstr>Presentación de PowerPoint</vt:lpstr>
      <vt:lpstr>Análisis</vt:lpstr>
      <vt:lpstr>Presentación de PowerPoint</vt:lpstr>
      <vt:lpstr>Presentación de PowerPoint</vt:lpstr>
      <vt:lpstr>Evaluación global e interpretación</vt:lpstr>
      <vt:lpstr>Comparación: No supervisado vs Supervisado</vt:lpstr>
      <vt:lpstr>Propuesta de mejoras metodológicas</vt:lpstr>
      <vt:lpstr>Discusión crítica final</vt:lpstr>
      <vt:lpstr>Implementación en lenguaje C de un algoritmo de aprendizaje supervisado</vt:lpstr>
      <vt:lpstr>Diseño de programa en C</vt:lpstr>
      <vt:lpstr>Comparativa C y Python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Final IA-Grupo 4</dc:title>
  <cp:lastModifiedBy>JESUS MANUEL VILLARREAL FERNANDEZ</cp:lastModifiedBy>
  <cp:revision>1</cp:revision>
  <dcterms:modified xsi:type="dcterms:W3CDTF">2025-12-02T05:50:58Z</dcterms:modified>
</cp:coreProperties>
</file>